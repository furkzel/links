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Poliçe bazlı</c:v>
                </c:pt>
              </c:strCache>
            </c:strRef>
          </c:tx>
          <c:spPr>
            <a:solidFill>
              <a:srgbClr val="0F766E"/>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200</c:v>
                </c:pt>
                <c:pt idx="1">
                  <c:v>200</c:v>
                </c:pt>
                <c:pt idx="2">
                  <c:v>200</c:v>
                </c:pt>
                <c:pt idx="3">
                  <c:v>100</c:v>
                </c:pt>
                <c:pt idx="4">
                  <c:v>100</c:v>
                </c:pt>
              </c:numCache>
            </c:numRef>
          </c:val>
        </c:ser>
        <c:ser>
          <c:idx val="1"/>
          <c:order val="1"/>
          <c:tx>
            <c:strRef>
              <c:f>Sheet1!$C$1</c:f>
              <c:strCache>
                <c:ptCount val="1"/>
                <c:pt idx="0">
                  <c:v>Ortalama vade (4 yıl)</c:v>
                </c:pt>
              </c:strCache>
            </c:strRef>
          </c:tx>
          <c:spPr>
            <a:solidFill>
              <a:srgbClr val="B8C0CF"/>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200</c:v>
                </c:pt>
                <c:pt idx="1">
                  <c:v>200</c:v>
                </c:pt>
                <c:pt idx="2">
                  <c:v>200</c:v>
                </c:pt>
                <c:pt idx="3">
                  <c:v>200</c:v>
                </c:pt>
                <c:pt idx="4">
                  <c:v>0</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Gerçek örüntü (poliçe Şubat'ta başlıyor)</c:v>
                </c:pt>
              </c:strCache>
            </c:strRef>
          </c:tx>
          <c:spPr>
            <a:solidFill>
              <a:srgbClr val="0F76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Oca</c:v>
                  </c:pt>
                  <c:pt idx="1">
                    <c:v>Şub</c:v>
                  </c:pt>
                  <c:pt idx="2">
                    <c:v>Mar</c:v>
                  </c:pt>
                  <c:pt idx="3">
                    <c:v>Nis</c:v>
                  </c:pt>
                  <c:pt idx="4">
                    <c:v>May</c:v>
                  </c:pt>
                  <c:pt idx="5">
                    <c:v>Haz</c:v>
                  </c:pt>
                  <c:pt idx="6">
                    <c:v>Tem</c:v>
                  </c:pt>
                  <c:pt idx="7">
                    <c:v>Ağu</c:v>
                  </c:pt>
                  <c:pt idx="8">
                    <c:v>Eyl</c:v>
                  </c:pt>
                  <c:pt idx="9">
                    <c:v>Eki</c:v>
                  </c:pt>
                  <c:pt idx="10">
                    <c:v>Kas</c:v>
                  </c:pt>
                  <c:pt idx="11">
                    <c:v>Ara</c:v>
                  </c:pt>
                </c:lvl>
              </c:multiLvlStrCache>
            </c:multiLvlStrRef>
          </c:cat>
          <c:val>
            <c:numRef>
              <c:f>Sheet1!$B$2:$B$13</c:f>
              <c:numCache>
                <c:formatCode>General</c:formatCode>
                <c:ptCount val="12"/>
                <c:pt idx="0">
                  <c:v>0</c:v>
                </c:pt>
                <c:pt idx="1">
                  <c:v>3</c:v>
                </c:pt>
                <c:pt idx="2">
                  <c:v>5</c:v>
                </c:pt>
                <c:pt idx="3">
                  <c:v>6</c:v>
                </c:pt>
                <c:pt idx="4">
                  <c:v>6</c:v>
                </c:pt>
                <c:pt idx="5">
                  <c:v>6</c:v>
                </c:pt>
                <c:pt idx="6">
                  <c:v>5</c:v>
                </c:pt>
                <c:pt idx="7">
                  <c:v>5</c:v>
                </c:pt>
                <c:pt idx="8">
                  <c:v>4</c:v>
                </c:pt>
                <c:pt idx="9">
                  <c:v>4</c:v>
                </c:pt>
                <c:pt idx="10">
                  <c:v>3</c:v>
                </c:pt>
                <c:pt idx="11">
                  <c:v>3</c:v>
                </c:pt>
              </c:numCache>
            </c:numRef>
          </c:val>
        </c:ser>
        <c:ser>
          <c:idx val="1"/>
          <c:order val="1"/>
          <c:tx>
            <c:strRef>
              <c:f>Sheet1!$C$1</c:f>
              <c:strCache>
                <c:ptCount val="1"/>
                <c:pt idx="0">
                  <c:v>PyCaT: yıl başı damgası (toplam)</c:v>
                </c:pt>
              </c:strCache>
            </c:strRef>
          </c:tx>
          <c:spPr>
            <a:solidFill>
              <a:srgbClr val="B4530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Oca</c:v>
                  </c:pt>
                  <c:pt idx="1">
                    <c:v>Şub</c:v>
                  </c:pt>
                  <c:pt idx="2">
                    <c:v>Mar</c:v>
                  </c:pt>
                  <c:pt idx="3">
                    <c:v>Nis</c:v>
                  </c:pt>
                  <c:pt idx="4">
                    <c:v>May</c:v>
                  </c:pt>
                  <c:pt idx="5">
                    <c:v>Haz</c:v>
                  </c:pt>
                  <c:pt idx="6">
                    <c:v>Tem</c:v>
                  </c:pt>
                  <c:pt idx="7">
                    <c:v>Ağu</c:v>
                  </c:pt>
                  <c:pt idx="8">
                    <c:v>Eyl</c:v>
                  </c:pt>
                  <c:pt idx="9">
                    <c:v>Eki</c:v>
                  </c:pt>
                  <c:pt idx="10">
                    <c:v>Kas</c:v>
                  </c:pt>
                  <c:pt idx="11">
                    <c:v>Ara</c:v>
                  </c:pt>
                </c:lvl>
              </c:multiLvlStrCache>
            </c:multiLvlStrRef>
          </c:cat>
          <c:val>
            <c:numRef>
              <c:f>Sheet1!$C$2:$C$13</c:f>
              <c:numCache>
                <c:formatCode>General</c:formatCode>
                <c:ptCount val="12"/>
                <c:pt idx="0">
                  <c:v>30</c:v>
                </c:pt>
                <c:pt idx="1">
                  <c:v>0</c:v>
                </c:pt>
                <c:pt idx="2">
                  <c:v>0</c:v>
                </c:pt>
                <c:pt idx="3">
                  <c:v>0</c:v>
                </c:pt>
                <c:pt idx="4">
                  <c:v>0</c:v>
                </c:pt>
                <c:pt idx="5">
                  <c:v>0</c:v>
                </c:pt>
                <c:pt idx="6">
                  <c:v>0</c:v>
                </c:pt>
                <c:pt idx="7">
                  <c:v>0</c:v>
                </c:pt>
                <c:pt idx="8">
                  <c:v>0</c:v>
                </c:pt>
                <c:pt idx="9">
                  <c:v>0</c:v>
                </c:pt>
                <c:pt idx="10">
                  <c:v>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8.xml"/><Relationship Id="rId9" Type="http://schemas.openxmlformats.org/officeDocument/2006/relationships/slide" Target="slide19.xml"/><Relationship Id="rId10" Type="http://schemas.openxmlformats.org/officeDocument/2006/relationships/slide" Target="slide20.xml"/><Relationship Id="rId11" Type="http://schemas.openxmlformats.org/officeDocument/2006/relationships/slide" Target="slide22.xml"/><Relationship Id="rId12" Type="http://schemas.openxmlformats.org/officeDocument/2006/relationships/slide" Target="slide24.xml"/><Relationship Id="rId13" Type="http://schemas.openxmlformats.org/officeDocument/2006/relationships/slide" Target="slide26.xml"/><Relationship Id="rId14" Type="http://schemas.openxmlformats.org/officeDocument/2006/relationships/slide" Target="slide28.xml"/><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731520" y="1371600"/>
            <a:ext cx="10058400" cy="365760"/>
          </a:xfrm>
          <a:prstGeom prst="rect">
            <a:avLst/>
          </a:prstGeom>
          <a:noFill/>
          <a:ln/>
        </p:spPr>
        <p:txBody>
          <a:bodyPr wrap="square" lIns="0" tIns="0" rIns="0" bIns="0" rtlCol="0" anchor="ctr"/>
          <a:lstStyle/>
          <a:p>
            <a:pPr indent="0" marL="0">
              <a:buNone/>
            </a:pPr>
            <a:r>
              <a:rPr lang="en-US" sz="1300" b="1" spc="300" kern="0" dirty="0">
                <a:solidFill>
                  <a:srgbClr val="7DD3C8"/>
                </a:solidFill>
                <a:latin typeface="Calibri" pitchFamily="34" charset="0"/>
                <a:ea typeface="Calibri" pitchFamily="34" charset="-122"/>
                <a:cs typeface="Calibri" pitchFamily="34" charset="-120"/>
              </a:rPr>
              <a:t>AKTÜERYA KAPANIŞ · IFRS 17</a:t>
            </a:r>
            <a:endParaRPr lang="en-US" sz="1300" dirty="0"/>
          </a:p>
        </p:txBody>
      </p:sp>
      <p:sp>
        <p:nvSpPr>
          <p:cNvPr id="3" name="Text 1"/>
          <p:cNvSpPr/>
          <p:nvPr/>
        </p:nvSpPr>
        <p:spPr>
          <a:xfrm>
            <a:off x="731520" y="1828800"/>
            <a:ext cx="10515600" cy="1645920"/>
          </a:xfrm>
          <a:prstGeom prst="rect">
            <a:avLst/>
          </a:prstGeom>
          <a:noFill/>
          <a:ln/>
        </p:spPr>
        <p:txBody>
          <a:bodyPr wrap="square" lIns="0" tIns="0" rIns="0" bIns="0" rtlCol="0" anchor="t"/>
          <a:lstStyle/>
          <a:p>
            <a:pPr indent="0" marL="0">
              <a:buNone/>
            </a:pPr>
            <a:r>
              <a:rPr lang="en-US" sz="3800" b="1" dirty="0">
                <a:solidFill>
                  <a:srgbClr val="FFFFFF"/>
                </a:solidFill>
                <a:latin typeface="Georgia" pitchFamily="34" charset="0"/>
                <a:ea typeface="Georgia" pitchFamily="34" charset="-122"/>
                <a:cs typeface="Georgia" pitchFamily="34" charset="-120"/>
              </a:rPr>
              <a:t>PyCaT Değerlendirmesi ve Poliçe Bazlı Nakit Akışı Aracına Geçiş</a:t>
            </a:r>
            <a:endParaRPr lang="en-US" sz="3800" dirty="0"/>
          </a:p>
        </p:txBody>
      </p:sp>
      <p:sp>
        <p:nvSpPr>
          <p:cNvPr id="4" name="Text 2"/>
          <p:cNvSpPr/>
          <p:nvPr/>
        </p:nvSpPr>
        <p:spPr>
          <a:xfrm>
            <a:off x="731520" y="3657600"/>
            <a:ext cx="10058400" cy="457200"/>
          </a:xfrm>
          <a:prstGeom prst="rect">
            <a:avLst/>
          </a:prstGeom>
          <a:noFill/>
          <a:ln/>
        </p:spPr>
        <p:txBody>
          <a:bodyPr wrap="square" lIns="0" tIns="0" rIns="0" bIns="0" rtlCol="0" anchor="ctr"/>
          <a:lstStyle/>
          <a:p>
            <a:pPr indent="0" marL="0">
              <a:buNone/>
            </a:pPr>
            <a:r>
              <a:rPr lang="en-US" sz="1800" dirty="0">
                <a:solidFill>
                  <a:srgbClr val="C9D3E6"/>
                </a:solidFill>
                <a:latin typeface="Calibri" pitchFamily="34" charset="0"/>
                <a:ea typeface="Calibri" pitchFamily="34" charset="-122"/>
                <a:cs typeface="Calibri" pitchFamily="34" charset="-120"/>
              </a:rPr>
              <a:t>Bulgular, süreç haritası, sayısal örnekler, seçenekler, maliyet ve risk</a:t>
            </a:r>
            <a:endParaRPr lang="en-US" sz="1800" dirty="0"/>
          </a:p>
        </p:txBody>
      </p:sp>
      <p:sp>
        <p:nvSpPr>
          <p:cNvPr id="5" name="Text 3"/>
          <p:cNvSpPr/>
          <p:nvPr/>
        </p:nvSpPr>
        <p:spPr>
          <a:xfrm>
            <a:off x="731520" y="5943600"/>
            <a:ext cx="10058400" cy="365760"/>
          </a:xfrm>
          <a:prstGeom prst="rect">
            <a:avLst/>
          </a:prstGeom>
          <a:noFill/>
          <a:ln/>
        </p:spPr>
        <p:txBody>
          <a:bodyPr wrap="square" lIns="0" tIns="0" rIns="0" bIns="0" rtlCol="0" anchor="ctr"/>
          <a:lstStyle/>
          <a:p>
            <a:pPr indent="0" marL="0">
              <a:buNone/>
            </a:pPr>
            <a:r>
              <a:rPr lang="en-US" sz="1200" dirty="0">
                <a:solidFill>
                  <a:srgbClr val="8FA0BF"/>
                </a:solidFill>
                <a:latin typeface="Calibri" pitchFamily="34" charset="0"/>
                <a:ea typeface="Calibri" pitchFamily="34" charset="-122"/>
                <a:cs typeface="Calibri" pitchFamily="34" charset="-120"/>
              </a:rPr>
              <a:t>Taslak · Ekip lideri sunumu · Ekim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GÜNDEM</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İçindekiler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Bir başlığa tıklayarak ilgili slayta geçebilirsiniz.</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Text 7"/>
          <p:cNvSpPr/>
          <p:nvPr/>
        </p:nvSpPr>
        <p:spPr>
          <a:xfrm>
            <a:off x="548640" y="1920240"/>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01   </a:t>
            </a:r>
            <a:pPr indent="0" marL="0">
              <a:buNone/>
            </a:pPr>
            <a:r>
              <a:rPr lang="en-US" sz="1600" u="sng" dirty="0">
                <a:solidFill>
                  <a:srgbClr val="14213D"/>
                </a:solidFill>
                <a:latin typeface="Calibri" pitchFamily="34" charset="0"/>
                <a:ea typeface="Calibri" pitchFamily="34" charset="-122"/>
                <a:cs typeface="Calibri" pitchFamily="34" charset="-120"/>
                <a:hlinkClick r:id="rId2" action="ppaction://hlinksldjump" tooltip="Yönetici özeti">
                  <a:extLst>
                    <a:ext uri="{A12FA001-AC4F-418D-AE19-62706E023703}">
                      <ahyp:hlinkClr xmlns:ahyp="http://schemas.microsoft.com/office/drawing/2018/hyperlinkcolor" val="tx"/>
                    </a:ext>
                  </a:extLst>
                </a:hlinkClick>
              </a:rPr>
              <a:t>Yönetici özeti</a:t>
            </a:r>
            <a:endParaRPr lang="en-US" sz="1600" dirty="0"/>
          </a:p>
        </p:txBody>
      </p:sp>
      <p:sp>
        <p:nvSpPr>
          <p:cNvPr id="10" name="Text 8"/>
          <p:cNvSpPr/>
          <p:nvPr/>
        </p:nvSpPr>
        <p:spPr>
          <a:xfrm>
            <a:off x="548640" y="2450592"/>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02   </a:t>
            </a:r>
            <a:pPr indent="0" marL="0">
              <a:buNone/>
            </a:pPr>
            <a:r>
              <a:rPr lang="en-US" sz="1600" u="sng" dirty="0">
                <a:solidFill>
                  <a:srgbClr val="14213D"/>
                </a:solidFill>
                <a:latin typeface="Calibri" pitchFamily="34" charset="0"/>
                <a:ea typeface="Calibri" pitchFamily="34" charset="-122"/>
                <a:cs typeface="Calibri" pitchFamily="34" charset="-120"/>
                <a:hlinkClick r:id="rId3" action="ppaction://hlinksldjump" tooltip="Zaman çizelgesi">
                  <a:extLst>
                    <a:ext uri="{A12FA001-AC4F-418D-AE19-62706E023703}">
                      <ahyp:hlinkClr xmlns:ahyp="http://schemas.microsoft.com/office/drawing/2018/hyperlinkcolor" val="tx"/>
                    </a:ext>
                  </a:extLst>
                </a:hlinkClick>
              </a:rPr>
              <a:t>Zaman çizelgesi</a:t>
            </a:r>
            <a:endParaRPr lang="en-US" sz="1600" dirty="0"/>
          </a:p>
        </p:txBody>
      </p:sp>
      <p:sp>
        <p:nvSpPr>
          <p:cNvPr id="11" name="Text 9"/>
          <p:cNvSpPr/>
          <p:nvPr/>
        </p:nvSpPr>
        <p:spPr>
          <a:xfrm>
            <a:off x="548640" y="2980944"/>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03   </a:t>
            </a:r>
            <a:pPr indent="0" marL="0">
              <a:buNone/>
            </a:pPr>
            <a:r>
              <a:rPr lang="en-US" sz="1600" u="sng" dirty="0">
                <a:solidFill>
                  <a:srgbClr val="14213D"/>
                </a:solidFill>
                <a:latin typeface="Calibri" pitchFamily="34" charset="0"/>
                <a:ea typeface="Calibri" pitchFamily="34" charset="-122"/>
                <a:cs typeface="Calibri" pitchFamily="34" charset="-120"/>
                <a:hlinkClick r:id="rId4" action="ppaction://hlinksldjump" tooltip="Paydaşlar">
                  <a:extLst>
                    <a:ext uri="{A12FA001-AC4F-418D-AE19-62706E023703}">
                      <ahyp:hlinkClr xmlns:ahyp="http://schemas.microsoft.com/office/drawing/2018/hyperlinkcolor" val="tx"/>
                    </a:ext>
                  </a:extLst>
                </a:hlinkClick>
              </a:rPr>
              <a:t>Paydaşlar</a:t>
            </a:r>
            <a:endParaRPr lang="en-US" sz="1600" dirty="0"/>
          </a:p>
        </p:txBody>
      </p:sp>
      <p:sp>
        <p:nvSpPr>
          <p:cNvPr id="12" name="Text 10"/>
          <p:cNvSpPr/>
          <p:nvPr/>
        </p:nvSpPr>
        <p:spPr>
          <a:xfrm>
            <a:off x="548640" y="3511296"/>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04   </a:t>
            </a:r>
            <a:pPr indent="0" marL="0">
              <a:buNone/>
            </a:pPr>
            <a:r>
              <a:rPr lang="en-US" sz="1600" u="sng" dirty="0">
                <a:solidFill>
                  <a:srgbClr val="14213D"/>
                </a:solidFill>
                <a:latin typeface="Calibri" pitchFamily="34" charset="0"/>
                <a:ea typeface="Calibri" pitchFamily="34" charset="-122"/>
                <a:cs typeface="Calibri" pitchFamily="34" charset="-120"/>
                <a:hlinkClick r:id="rId5" action="ppaction://hlinksldjump" tooltip="14 adımlık süreç">
                  <a:extLst>
                    <a:ext uri="{A12FA001-AC4F-418D-AE19-62706E023703}">
                      <ahyp:hlinkClr xmlns:ahyp="http://schemas.microsoft.com/office/drawing/2018/hyperlinkcolor" val="tx"/>
                    </a:ext>
                  </a:extLst>
                </a:hlinkClick>
              </a:rPr>
              <a:t>14 adımlık süreç</a:t>
            </a:r>
            <a:endParaRPr lang="en-US" sz="1600" dirty="0"/>
          </a:p>
        </p:txBody>
      </p:sp>
      <p:sp>
        <p:nvSpPr>
          <p:cNvPr id="13" name="Text 11"/>
          <p:cNvSpPr/>
          <p:nvPr/>
        </p:nvSpPr>
        <p:spPr>
          <a:xfrm>
            <a:off x="548640" y="4041648"/>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05   </a:t>
            </a:r>
            <a:pPr indent="0" marL="0">
              <a:buNone/>
            </a:pPr>
            <a:r>
              <a:rPr lang="en-US" sz="1600" u="sng" dirty="0">
                <a:solidFill>
                  <a:srgbClr val="14213D"/>
                </a:solidFill>
                <a:latin typeface="Calibri" pitchFamily="34" charset="0"/>
                <a:ea typeface="Calibri" pitchFamily="34" charset="-122"/>
                <a:cs typeface="Calibri" pitchFamily="34" charset="-120"/>
                <a:hlinkClick r:id="rId6" action="ppaction://hlinksldjump" tooltip="IFRS 17 temelleri">
                  <a:extLst>
                    <a:ext uri="{A12FA001-AC4F-418D-AE19-62706E023703}">
                      <ahyp:hlinkClr xmlns:ahyp="http://schemas.microsoft.com/office/drawing/2018/hyperlinkcolor" val="tx"/>
                    </a:ext>
                  </a:extLst>
                </a:hlinkClick>
              </a:rPr>
              <a:t>IFRS 17 temelleri</a:t>
            </a:r>
            <a:endParaRPr lang="en-US" sz="1600" dirty="0"/>
          </a:p>
        </p:txBody>
      </p:sp>
      <p:sp>
        <p:nvSpPr>
          <p:cNvPr id="14" name="Text 12"/>
          <p:cNvSpPr/>
          <p:nvPr/>
        </p:nvSpPr>
        <p:spPr>
          <a:xfrm>
            <a:off x="548640" y="4572000"/>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06   </a:t>
            </a:r>
            <a:pPr indent="0" marL="0">
              <a:buNone/>
            </a:pPr>
            <a:r>
              <a:rPr lang="en-US" sz="1600" u="sng" dirty="0">
                <a:solidFill>
                  <a:srgbClr val="14213D"/>
                </a:solidFill>
                <a:latin typeface="Calibri" pitchFamily="34" charset="0"/>
                <a:ea typeface="Calibri" pitchFamily="34" charset="-122"/>
                <a:cs typeface="Calibri" pitchFamily="34" charset="-120"/>
                <a:hlinkClick r:id="rId7" action="ppaction://hlinksldjump" tooltip="Bulgular P1-P7">
                  <a:extLst>
                    <a:ext uri="{A12FA001-AC4F-418D-AE19-62706E023703}">
                      <ahyp:hlinkClr xmlns:ahyp="http://schemas.microsoft.com/office/drawing/2018/hyperlinkcolor" val="tx"/>
                    </a:ext>
                  </a:extLst>
                </a:hlinkClick>
              </a:rPr>
              <a:t>Bulgular P1-P7</a:t>
            </a:r>
            <a:endParaRPr lang="en-US" sz="1600" dirty="0"/>
          </a:p>
        </p:txBody>
      </p:sp>
      <p:sp>
        <p:nvSpPr>
          <p:cNvPr id="15" name="Text 13"/>
          <p:cNvSpPr/>
          <p:nvPr/>
        </p:nvSpPr>
        <p:spPr>
          <a:xfrm>
            <a:off x="548640" y="5102352"/>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07   </a:t>
            </a:r>
            <a:pPr indent="0" marL="0">
              <a:buNone/>
            </a:pPr>
            <a:r>
              <a:rPr lang="en-US" sz="1600" u="sng" dirty="0">
                <a:solidFill>
                  <a:srgbClr val="14213D"/>
                </a:solidFill>
                <a:latin typeface="Calibri" pitchFamily="34" charset="0"/>
                <a:ea typeface="Calibri" pitchFamily="34" charset="-122"/>
                <a:cs typeface="Calibri" pitchFamily="34" charset="-120"/>
                <a:hlinkClick r:id="rId8" action="ppaction://hlinksldjump" tooltip="Canlı örnek: ortalama vade">
                  <a:extLst>
                    <a:ext uri="{A12FA001-AC4F-418D-AE19-62706E023703}">
                      <ahyp:hlinkClr xmlns:ahyp="http://schemas.microsoft.com/office/drawing/2018/hyperlinkcolor" val="tx"/>
                    </a:ext>
                  </a:extLst>
                </a:hlinkClick>
              </a:rPr>
              <a:t>Canlı örnek: ortalama vade</a:t>
            </a:r>
            <a:endParaRPr lang="en-US" sz="1600" dirty="0"/>
          </a:p>
        </p:txBody>
      </p:sp>
      <p:sp>
        <p:nvSpPr>
          <p:cNvPr id="16" name="Text 14"/>
          <p:cNvSpPr/>
          <p:nvPr/>
        </p:nvSpPr>
        <p:spPr>
          <a:xfrm>
            <a:off x="548640" y="5632704"/>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08   </a:t>
            </a:r>
            <a:pPr indent="0" marL="0">
              <a:buNone/>
            </a:pPr>
            <a:r>
              <a:rPr lang="en-US" sz="1600" u="sng" dirty="0">
                <a:solidFill>
                  <a:srgbClr val="14213D"/>
                </a:solidFill>
                <a:latin typeface="Calibri" pitchFamily="34" charset="0"/>
                <a:ea typeface="Calibri" pitchFamily="34" charset="-122"/>
                <a:cs typeface="Calibri" pitchFamily="34" charset="-120"/>
                <a:hlinkClick r:id="rId9" action="ppaction://hlinksldjump" tooltip="Canlı örnek: incurred tarihi">
                  <a:extLst>
                    <a:ext uri="{A12FA001-AC4F-418D-AE19-62706E023703}">
                      <ahyp:hlinkClr xmlns:ahyp="http://schemas.microsoft.com/office/drawing/2018/hyperlinkcolor" val="tx"/>
                    </a:ext>
                  </a:extLst>
                </a:hlinkClick>
              </a:rPr>
              <a:t>Canlı örnek: incurred tarihi</a:t>
            </a:r>
            <a:endParaRPr lang="en-US" sz="1600" dirty="0"/>
          </a:p>
        </p:txBody>
      </p:sp>
      <p:sp>
        <p:nvSpPr>
          <p:cNvPr id="17" name="Text 15"/>
          <p:cNvSpPr/>
          <p:nvPr/>
        </p:nvSpPr>
        <p:spPr>
          <a:xfrm>
            <a:off x="6172200" y="1920240"/>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09   </a:t>
            </a:r>
            <a:pPr indent="0" marL="0">
              <a:buNone/>
            </a:pPr>
            <a:r>
              <a:rPr lang="en-US" sz="1600" u="sng" dirty="0">
                <a:solidFill>
                  <a:srgbClr val="14213D"/>
                </a:solidFill>
                <a:latin typeface="Calibri" pitchFamily="34" charset="0"/>
                <a:ea typeface="Calibri" pitchFamily="34" charset="-122"/>
                <a:cs typeface="Calibri" pitchFamily="34" charset="-120"/>
                <a:hlinkClick r:id="rId10" action="ppaction://hlinksldjump" tooltip="Denetim hazırlığı">
                  <a:extLst>
                    <a:ext uri="{A12FA001-AC4F-418D-AE19-62706E023703}">
                      <ahyp:hlinkClr xmlns:ahyp="http://schemas.microsoft.com/office/drawing/2018/hyperlinkcolor" val="tx"/>
                    </a:ext>
                  </a:extLst>
                </a:hlinkClick>
              </a:rPr>
              <a:t>Denetim hazırlığı</a:t>
            </a:r>
            <a:endParaRPr lang="en-US" sz="1600" dirty="0"/>
          </a:p>
        </p:txBody>
      </p:sp>
      <p:sp>
        <p:nvSpPr>
          <p:cNvPr id="18" name="Text 16"/>
          <p:cNvSpPr/>
          <p:nvPr/>
        </p:nvSpPr>
        <p:spPr>
          <a:xfrm>
            <a:off x="6172200" y="2450592"/>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10   </a:t>
            </a:r>
            <a:pPr indent="0" marL="0">
              <a:buNone/>
            </a:pPr>
            <a:r>
              <a:rPr lang="en-US" sz="1600" u="sng" dirty="0">
                <a:solidFill>
                  <a:srgbClr val="14213D"/>
                </a:solidFill>
                <a:latin typeface="Calibri" pitchFamily="34" charset="0"/>
                <a:ea typeface="Calibri" pitchFamily="34" charset="-122"/>
                <a:cs typeface="Calibri" pitchFamily="34" charset="-120"/>
                <a:hlinkClick r:id="rId11" action="ppaction://hlinksldjump" tooltip="Sektör ve araçlar">
                  <a:extLst>
                    <a:ext uri="{A12FA001-AC4F-418D-AE19-62706E023703}">
                      <ahyp:hlinkClr xmlns:ahyp="http://schemas.microsoft.com/office/drawing/2018/hyperlinkcolor" val="tx"/>
                    </a:ext>
                  </a:extLst>
                </a:hlinkClick>
              </a:rPr>
              <a:t>Sektör ve araçlar</a:t>
            </a:r>
            <a:endParaRPr lang="en-US" sz="1600" dirty="0"/>
          </a:p>
        </p:txBody>
      </p:sp>
      <p:sp>
        <p:nvSpPr>
          <p:cNvPr id="19" name="Text 17"/>
          <p:cNvSpPr/>
          <p:nvPr/>
        </p:nvSpPr>
        <p:spPr>
          <a:xfrm>
            <a:off x="6172200" y="2980944"/>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11   </a:t>
            </a:r>
            <a:pPr indent="0" marL="0">
              <a:buNone/>
            </a:pPr>
            <a:r>
              <a:rPr lang="en-US" sz="1600" u="sng" dirty="0">
                <a:solidFill>
                  <a:srgbClr val="14213D"/>
                </a:solidFill>
                <a:latin typeface="Calibri" pitchFamily="34" charset="0"/>
                <a:ea typeface="Calibri" pitchFamily="34" charset="-122"/>
                <a:cs typeface="Calibri" pitchFamily="34" charset="-120"/>
                <a:hlinkClick r:id="rId12" action="ppaction://hlinksldjump" tooltip="Karar matrisi">
                  <a:extLst>
                    <a:ext uri="{A12FA001-AC4F-418D-AE19-62706E023703}">
                      <ahyp:hlinkClr xmlns:ahyp="http://schemas.microsoft.com/office/drawing/2018/hyperlinkcolor" val="tx"/>
                    </a:ext>
                  </a:extLst>
                </a:hlinkClick>
              </a:rPr>
              <a:t>Karar matrisi</a:t>
            </a:r>
            <a:endParaRPr lang="en-US" sz="1600" dirty="0"/>
          </a:p>
        </p:txBody>
      </p:sp>
      <p:sp>
        <p:nvSpPr>
          <p:cNvPr id="20" name="Text 18"/>
          <p:cNvSpPr/>
          <p:nvPr/>
        </p:nvSpPr>
        <p:spPr>
          <a:xfrm>
            <a:off x="6172200" y="3511296"/>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12   </a:t>
            </a:r>
            <a:pPr indent="0" marL="0">
              <a:buNone/>
            </a:pPr>
            <a:r>
              <a:rPr lang="en-US" sz="1600" u="sng" dirty="0">
                <a:solidFill>
                  <a:srgbClr val="14213D"/>
                </a:solidFill>
                <a:latin typeface="Calibri" pitchFamily="34" charset="0"/>
                <a:ea typeface="Calibri" pitchFamily="34" charset="-122"/>
                <a:cs typeface="Calibri" pitchFamily="34" charset="-120"/>
                <a:hlinkClick r:id="rId13" action="ppaction://hlinksldjump" tooltip="Maliyet ve risk">
                  <a:extLst>
                    <a:ext uri="{A12FA001-AC4F-418D-AE19-62706E023703}">
                      <ahyp:hlinkClr xmlns:ahyp="http://schemas.microsoft.com/office/drawing/2018/hyperlinkcolor" val="tx"/>
                    </a:ext>
                  </a:extLst>
                </a:hlinkClick>
              </a:rPr>
              <a:t>Maliyet ve risk</a:t>
            </a:r>
            <a:endParaRPr lang="en-US" sz="1600" dirty="0"/>
          </a:p>
        </p:txBody>
      </p:sp>
      <p:sp>
        <p:nvSpPr>
          <p:cNvPr id="21" name="Text 19"/>
          <p:cNvSpPr/>
          <p:nvPr/>
        </p:nvSpPr>
        <p:spPr>
          <a:xfrm>
            <a:off x="6172200" y="4041648"/>
            <a:ext cx="5394960" cy="41148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13   </a:t>
            </a:r>
            <a:pPr indent="0" marL="0">
              <a:buNone/>
            </a:pPr>
            <a:r>
              <a:rPr lang="en-US" sz="1600" u="sng" dirty="0">
                <a:solidFill>
                  <a:srgbClr val="14213D"/>
                </a:solidFill>
                <a:latin typeface="Calibri" pitchFamily="34" charset="0"/>
                <a:ea typeface="Calibri" pitchFamily="34" charset="-122"/>
                <a:cs typeface="Calibri" pitchFamily="34" charset="-120"/>
                <a:hlinkClick r:id="rId14" action="ppaction://hlinksldjump" tooltip="Sözlük">
                  <a:extLst>
                    <a:ext uri="{A12FA001-AC4F-418D-AE19-62706E023703}">
                      <ahyp:hlinkClr xmlns:ahyp="http://schemas.microsoft.com/office/drawing/2018/hyperlinkcolor" val="tx"/>
                    </a:ext>
                  </a:extLst>
                </a:hlinkClick>
              </a:rPr>
              <a:t>Sözlük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YÖNETICI ÖZETI</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Mesele araç değil; poliçe bazlı doğruluk, denetlenebilirlik ve sürdürülebilirlik</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3</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8" name="Shape 6"/>
          <p:cNvSpPr/>
          <p:nvPr/>
        </p:nvSpPr>
        <p:spPr>
          <a:xfrm>
            <a:off x="548640" y="1463040"/>
            <a:ext cx="3566160" cy="2194560"/>
          </a:xfrm>
          <a:prstGeom prst="rect">
            <a:avLst/>
          </a:prstGeom>
          <a:solidFill>
            <a:srgbClr val="F4F6FA"/>
          </a:solidFill>
          <a:ln w="9525">
            <a:solidFill>
              <a:srgbClr val="D5DAE4"/>
            </a:solidFill>
            <a:prstDash val="solid"/>
          </a:ln>
        </p:spPr>
      </p:sp>
      <p:sp>
        <p:nvSpPr>
          <p:cNvPr id="9" name="Shape 7"/>
          <p:cNvSpPr/>
          <p:nvPr/>
        </p:nvSpPr>
        <p:spPr>
          <a:xfrm>
            <a:off x="548640" y="1463040"/>
            <a:ext cx="64008" cy="2194560"/>
          </a:xfrm>
          <a:prstGeom prst="rect">
            <a:avLst/>
          </a:prstGeom>
          <a:solidFill>
            <a:srgbClr val="B42318"/>
          </a:solidFill>
          <a:ln w="12700">
            <a:solidFill>
              <a:srgbClr val="B42318"/>
            </a:solidFill>
            <a:prstDash val="solid"/>
          </a:ln>
        </p:spPr>
      </p:sp>
      <p:sp>
        <p:nvSpPr>
          <p:cNvPr id="10" name="Text 8"/>
          <p:cNvSpPr/>
          <p:nvPr/>
        </p:nvSpPr>
        <p:spPr>
          <a:xfrm>
            <a:off x="731520" y="1536192"/>
            <a:ext cx="3291840" cy="204825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Sorun</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PyCaT, nakit akışını ortalama süre ve yıllık incurred tarihleriyle üretiyor. Kalan vadesi farklı poliçeler tek ortalamaya indirgeniyor; başlangıç tarihi hataları manuel düzeltiliyor.</a:t>
            </a:r>
            <a:endParaRPr lang="en-US" sz="1100" dirty="0"/>
          </a:p>
        </p:txBody>
      </p:sp>
      <p:sp>
        <p:nvSpPr>
          <p:cNvPr id="11" name="Shape 9"/>
          <p:cNvSpPr/>
          <p:nvPr/>
        </p:nvSpPr>
        <p:spPr>
          <a:xfrm>
            <a:off x="4297680" y="1463040"/>
            <a:ext cx="3566160" cy="2194560"/>
          </a:xfrm>
          <a:prstGeom prst="rect">
            <a:avLst/>
          </a:prstGeom>
          <a:solidFill>
            <a:srgbClr val="F4F6FA"/>
          </a:solidFill>
          <a:ln w="9525">
            <a:solidFill>
              <a:srgbClr val="D5DAE4"/>
            </a:solidFill>
            <a:prstDash val="solid"/>
          </a:ln>
        </p:spPr>
      </p:sp>
      <p:sp>
        <p:nvSpPr>
          <p:cNvPr id="12" name="Shape 10"/>
          <p:cNvSpPr/>
          <p:nvPr/>
        </p:nvSpPr>
        <p:spPr>
          <a:xfrm>
            <a:off x="4297680" y="1463040"/>
            <a:ext cx="64008" cy="2194560"/>
          </a:xfrm>
          <a:prstGeom prst="rect">
            <a:avLst/>
          </a:prstGeom>
          <a:solidFill>
            <a:srgbClr val="B45309"/>
          </a:solidFill>
          <a:ln w="12700">
            <a:solidFill>
              <a:srgbClr val="B45309"/>
            </a:solidFill>
            <a:prstDash val="solid"/>
          </a:ln>
        </p:spPr>
      </p:sp>
      <p:sp>
        <p:nvSpPr>
          <p:cNvPr id="13" name="Text 11"/>
          <p:cNvSpPr/>
          <p:nvPr/>
        </p:nvSpPr>
        <p:spPr>
          <a:xfrm>
            <a:off x="4480560" y="1536192"/>
            <a:ext cx="3291840" cy="204825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şimdi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Denetim yorumları: ekip sirkülasyonu, eğitim eksikliği, detay sorularına hazırlık. IFRS 17 uygulaması 2027 için planlanmıştı, 2028 tahmin ediliyor.</a:t>
            </a:r>
            <a:endParaRPr lang="en-US" sz="1100" dirty="0"/>
          </a:p>
        </p:txBody>
      </p:sp>
      <p:sp>
        <p:nvSpPr>
          <p:cNvPr id="14" name="Shape 12"/>
          <p:cNvSpPr/>
          <p:nvPr/>
        </p:nvSpPr>
        <p:spPr>
          <a:xfrm>
            <a:off x="8046720" y="1463040"/>
            <a:ext cx="3566160" cy="2194560"/>
          </a:xfrm>
          <a:prstGeom prst="rect">
            <a:avLst/>
          </a:prstGeom>
          <a:solidFill>
            <a:srgbClr val="F4F6FA"/>
          </a:solidFill>
          <a:ln w="9525">
            <a:solidFill>
              <a:srgbClr val="D5DAE4"/>
            </a:solidFill>
            <a:prstDash val="solid"/>
          </a:ln>
        </p:spPr>
      </p:sp>
      <p:sp>
        <p:nvSpPr>
          <p:cNvPr id="15" name="Shape 13"/>
          <p:cNvSpPr/>
          <p:nvPr/>
        </p:nvSpPr>
        <p:spPr>
          <a:xfrm>
            <a:off x="8046720" y="1463040"/>
            <a:ext cx="64008" cy="2194560"/>
          </a:xfrm>
          <a:prstGeom prst="rect">
            <a:avLst/>
          </a:prstGeom>
          <a:solidFill>
            <a:srgbClr val="0F766E"/>
          </a:solidFill>
          <a:ln w="12700">
            <a:solidFill>
              <a:srgbClr val="0F766E"/>
            </a:solidFill>
            <a:prstDash val="solid"/>
          </a:ln>
        </p:spPr>
      </p:sp>
      <p:sp>
        <p:nvSpPr>
          <p:cNvPr id="16" name="Text 14"/>
          <p:cNvSpPr/>
          <p:nvPr/>
        </p:nvSpPr>
        <p:spPr>
          <a:xfrm>
            <a:off x="8229600" y="1536192"/>
            <a:ext cx="3291840" cy="204825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Önerilen yol</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Seçenekleri doğruluk, denetlenebilirlik, maliyet ve risk açısından karşılaştırmak; seçilen aracı tek portföyde, canlı kapanışı bozmadan paralel koşuyla sınamak.</a:t>
            </a:r>
            <a:endParaRPr lang="en-US" sz="1100" dirty="0"/>
          </a:p>
        </p:txBody>
      </p:sp>
      <p:sp>
        <p:nvSpPr>
          <p:cNvPr id="17" name="Text 15"/>
          <p:cNvSpPr/>
          <p:nvPr/>
        </p:nvSpPr>
        <p:spPr>
          <a:xfrm>
            <a:off x="548640" y="3931920"/>
            <a:ext cx="11064240" cy="3657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Kapanışı bozmayan, paralel yürüyen bir çalışma: "PyCaT öncelik değil" notuyla uyumlu.</a:t>
            </a:r>
            <a:endParaRPr lang="en-US" sz="1400" dirty="0"/>
          </a:p>
        </p:txBody>
      </p:sp>
      <p:sp>
        <p:nvSpPr>
          <p:cNvPr id="18" name="Shape 16"/>
          <p:cNvSpPr/>
          <p:nvPr/>
        </p:nvSpPr>
        <p:spPr>
          <a:xfrm>
            <a:off x="548640" y="4480560"/>
            <a:ext cx="2651760" cy="1371600"/>
          </a:xfrm>
          <a:prstGeom prst="rect">
            <a:avLst/>
          </a:prstGeom>
          <a:solidFill>
            <a:srgbClr val="DDEFEC"/>
          </a:solidFill>
          <a:ln w="12700">
            <a:solidFill>
              <a:srgbClr val="DDEFEC"/>
            </a:solidFill>
            <a:prstDash val="solid"/>
          </a:ln>
        </p:spPr>
      </p:sp>
      <p:sp>
        <p:nvSpPr>
          <p:cNvPr id="19" name="Text 17"/>
          <p:cNvSpPr/>
          <p:nvPr/>
        </p:nvSpPr>
        <p:spPr>
          <a:xfrm>
            <a:off x="548640" y="4572000"/>
            <a:ext cx="2651760" cy="731520"/>
          </a:xfrm>
          <a:prstGeom prst="rect">
            <a:avLst/>
          </a:prstGeom>
          <a:noFill/>
          <a:ln/>
        </p:spPr>
        <p:txBody>
          <a:bodyPr wrap="square" lIns="0" tIns="0" rIns="0" bIns="0" rtlCol="0" anchor="ctr"/>
          <a:lstStyle/>
          <a:p>
            <a:pPr algn="ctr" indent="0" marL="0">
              <a:buNone/>
            </a:pPr>
            <a:r>
              <a:rPr lang="en-US" sz="3600" b="1" dirty="0">
                <a:solidFill>
                  <a:srgbClr val="0F766E"/>
                </a:solidFill>
                <a:latin typeface="Georgia" pitchFamily="34" charset="0"/>
                <a:ea typeface="Georgia" pitchFamily="34" charset="-122"/>
                <a:cs typeface="Georgia" pitchFamily="34" charset="-120"/>
              </a:rPr>
              <a:t>7</a:t>
            </a:r>
            <a:endParaRPr lang="en-US" sz="3600" dirty="0"/>
          </a:p>
        </p:txBody>
      </p:sp>
      <p:sp>
        <p:nvSpPr>
          <p:cNvPr id="20" name="Text 18"/>
          <p:cNvSpPr/>
          <p:nvPr/>
        </p:nvSpPr>
        <p:spPr>
          <a:xfrm>
            <a:off x="548640" y="5303520"/>
            <a:ext cx="2651760" cy="36576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bulgu (P1-P7)</a:t>
            </a:r>
            <a:endParaRPr lang="en-US" sz="1200" dirty="0"/>
          </a:p>
        </p:txBody>
      </p:sp>
      <p:sp>
        <p:nvSpPr>
          <p:cNvPr id="21" name="Shape 19"/>
          <p:cNvSpPr/>
          <p:nvPr/>
        </p:nvSpPr>
        <p:spPr>
          <a:xfrm>
            <a:off x="3346704" y="4480560"/>
            <a:ext cx="2651760" cy="1371600"/>
          </a:xfrm>
          <a:prstGeom prst="rect">
            <a:avLst/>
          </a:prstGeom>
          <a:solidFill>
            <a:srgbClr val="DDEFEC"/>
          </a:solidFill>
          <a:ln w="12700">
            <a:solidFill>
              <a:srgbClr val="DDEFEC"/>
            </a:solidFill>
            <a:prstDash val="solid"/>
          </a:ln>
        </p:spPr>
      </p:sp>
      <p:sp>
        <p:nvSpPr>
          <p:cNvPr id="22" name="Text 20"/>
          <p:cNvSpPr/>
          <p:nvPr/>
        </p:nvSpPr>
        <p:spPr>
          <a:xfrm>
            <a:off x="3346704" y="4572000"/>
            <a:ext cx="2651760" cy="731520"/>
          </a:xfrm>
          <a:prstGeom prst="rect">
            <a:avLst/>
          </a:prstGeom>
          <a:noFill/>
          <a:ln/>
        </p:spPr>
        <p:txBody>
          <a:bodyPr wrap="square" lIns="0" tIns="0" rIns="0" bIns="0" rtlCol="0" anchor="ctr"/>
          <a:lstStyle/>
          <a:p>
            <a:pPr algn="ctr" indent="0" marL="0">
              <a:buNone/>
            </a:pPr>
            <a:r>
              <a:rPr lang="en-US" sz="3600" b="1" dirty="0">
                <a:solidFill>
                  <a:srgbClr val="0F766E"/>
                </a:solidFill>
                <a:latin typeface="Georgia" pitchFamily="34" charset="0"/>
                <a:ea typeface="Georgia" pitchFamily="34" charset="-122"/>
                <a:cs typeface="Georgia" pitchFamily="34" charset="-120"/>
              </a:rPr>
              <a:t>14</a:t>
            </a:r>
            <a:endParaRPr lang="en-US" sz="3600" dirty="0"/>
          </a:p>
        </p:txBody>
      </p:sp>
      <p:sp>
        <p:nvSpPr>
          <p:cNvPr id="23" name="Text 21"/>
          <p:cNvSpPr/>
          <p:nvPr/>
        </p:nvSpPr>
        <p:spPr>
          <a:xfrm>
            <a:off x="3346704" y="5303520"/>
            <a:ext cx="2651760" cy="36576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süreç adımı</a:t>
            </a:r>
            <a:endParaRPr lang="en-US" sz="1200" dirty="0"/>
          </a:p>
        </p:txBody>
      </p:sp>
      <p:sp>
        <p:nvSpPr>
          <p:cNvPr id="24" name="Shape 22"/>
          <p:cNvSpPr/>
          <p:nvPr/>
        </p:nvSpPr>
        <p:spPr>
          <a:xfrm>
            <a:off x="6144768" y="4480560"/>
            <a:ext cx="2651760" cy="1371600"/>
          </a:xfrm>
          <a:prstGeom prst="rect">
            <a:avLst/>
          </a:prstGeom>
          <a:solidFill>
            <a:srgbClr val="DDEFEC"/>
          </a:solidFill>
          <a:ln w="12700">
            <a:solidFill>
              <a:srgbClr val="DDEFEC"/>
            </a:solidFill>
            <a:prstDash val="solid"/>
          </a:ln>
        </p:spPr>
      </p:sp>
      <p:sp>
        <p:nvSpPr>
          <p:cNvPr id="25" name="Text 23"/>
          <p:cNvSpPr/>
          <p:nvPr/>
        </p:nvSpPr>
        <p:spPr>
          <a:xfrm>
            <a:off x="6144768" y="4572000"/>
            <a:ext cx="2651760" cy="731520"/>
          </a:xfrm>
          <a:prstGeom prst="rect">
            <a:avLst/>
          </a:prstGeom>
          <a:noFill/>
          <a:ln/>
        </p:spPr>
        <p:txBody>
          <a:bodyPr wrap="square" lIns="0" tIns="0" rIns="0" bIns="0" rtlCol="0" anchor="ctr"/>
          <a:lstStyle/>
          <a:p>
            <a:pPr algn="ctr" indent="0" marL="0">
              <a:buNone/>
            </a:pPr>
            <a:r>
              <a:rPr lang="en-US" sz="3600" b="1" dirty="0">
                <a:solidFill>
                  <a:srgbClr val="0F766E"/>
                </a:solidFill>
                <a:latin typeface="Georgia" pitchFamily="34" charset="0"/>
                <a:ea typeface="Georgia" pitchFamily="34" charset="-122"/>
                <a:cs typeface="Georgia" pitchFamily="34" charset="-120"/>
              </a:rPr>
              <a:t>4</a:t>
            </a:r>
            <a:endParaRPr lang="en-US" sz="3600" dirty="0"/>
          </a:p>
        </p:txBody>
      </p:sp>
      <p:sp>
        <p:nvSpPr>
          <p:cNvPr id="26" name="Text 24"/>
          <p:cNvSpPr/>
          <p:nvPr/>
        </p:nvSpPr>
        <p:spPr>
          <a:xfrm>
            <a:off x="6144768" y="5303520"/>
            <a:ext cx="2651760" cy="36576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araç seçeneği</a:t>
            </a:r>
            <a:endParaRPr lang="en-US" sz="1200" dirty="0"/>
          </a:p>
        </p:txBody>
      </p:sp>
      <p:sp>
        <p:nvSpPr>
          <p:cNvPr id="27" name="Shape 25"/>
          <p:cNvSpPr/>
          <p:nvPr/>
        </p:nvSpPr>
        <p:spPr>
          <a:xfrm>
            <a:off x="8942832" y="4480560"/>
            <a:ext cx="2651760" cy="1371600"/>
          </a:xfrm>
          <a:prstGeom prst="rect">
            <a:avLst/>
          </a:prstGeom>
          <a:solidFill>
            <a:srgbClr val="DDEFEC"/>
          </a:solidFill>
          <a:ln w="12700">
            <a:solidFill>
              <a:srgbClr val="DDEFEC"/>
            </a:solidFill>
            <a:prstDash val="solid"/>
          </a:ln>
        </p:spPr>
      </p:sp>
      <p:sp>
        <p:nvSpPr>
          <p:cNvPr id="28" name="Text 26"/>
          <p:cNvSpPr/>
          <p:nvPr/>
        </p:nvSpPr>
        <p:spPr>
          <a:xfrm>
            <a:off x="8942832" y="4572000"/>
            <a:ext cx="2651760" cy="731520"/>
          </a:xfrm>
          <a:prstGeom prst="rect">
            <a:avLst/>
          </a:prstGeom>
          <a:noFill/>
          <a:ln/>
        </p:spPr>
        <p:txBody>
          <a:bodyPr wrap="square" lIns="0" tIns="0" rIns="0" bIns="0" rtlCol="0" anchor="ctr"/>
          <a:lstStyle/>
          <a:p>
            <a:pPr algn="ctr" indent="0" marL="0">
              <a:buNone/>
            </a:pPr>
            <a:r>
              <a:rPr lang="en-US" sz="3600" b="1" dirty="0">
                <a:solidFill>
                  <a:srgbClr val="0F766E"/>
                </a:solidFill>
                <a:latin typeface="Georgia" pitchFamily="34" charset="0"/>
                <a:ea typeface="Georgia" pitchFamily="34" charset="-122"/>
                <a:cs typeface="Georgia" pitchFamily="34" charset="-120"/>
              </a:rPr>
              <a:t>19</a:t>
            </a:r>
            <a:endParaRPr lang="en-US" sz="3600" dirty="0"/>
          </a:p>
        </p:txBody>
      </p:sp>
      <p:sp>
        <p:nvSpPr>
          <p:cNvPr id="29" name="Text 27"/>
          <p:cNvSpPr/>
          <p:nvPr/>
        </p:nvSpPr>
        <p:spPr>
          <a:xfrm>
            <a:off x="8942832" y="5303520"/>
            <a:ext cx="2651760" cy="36576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şirketlik sektör araştırması*</a:t>
            </a:r>
            <a:endParaRPr lang="en-US" sz="1200" dirty="0"/>
          </a:p>
        </p:txBody>
      </p:sp>
      <p:sp>
        <p:nvSpPr>
          <p:cNvPr id="30" name="Text 28"/>
          <p:cNvSpPr/>
          <p:nvPr/>
        </p:nvSpPr>
        <p:spPr>
          <a:xfrm>
            <a:off x="548640" y="5943600"/>
            <a:ext cx="11064240" cy="457200"/>
          </a:xfrm>
          <a:prstGeom prst="rect">
            <a:avLst/>
          </a:prstGeom>
          <a:noFill/>
          <a:ln/>
        </p:spPr>
        <p:txBody>
          <a:bodyPr wrap="square" lIns="0" tIns="0" rIns="0" bIns="0" rtlCol="0" anchor="t"/>
          <a:lstStyle/>
          <a:p>
            <a:pPr indent="0" marL="0">
              <a:buNone/>
            </a:pPr>
            <a:r>
              <a:rPr lang="en-US" sz="1100" i="1" dirty="0">
                <a:solidFill>
                  <a:srgbClr val="5B6475"/>
                </a:solidFill>
                <a:latin typeface="Calibri" pitchFamily="34" charset="0"/>
                <a:ea typeface="Calibri" pitchFamily="34" charset="-122"/>
                <a:cs typeface="Calibri" pitchFamily="34" charset="-120"/>
              </a:rPr>
              <a:t>* Toplantı notlarına göre 19 hayat ve emeklilik şirketinin tamamı poliçe bazlı çalışıyor; yalnızca BNP Paribas unit of account bazlı.</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BAĞLAM</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Zaman çizelgesi: paralel raporlamadan uygulamaya</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Her düğümün altında ne olduğu ve etkisi.</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4</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1338943" y="2103120"/>
            <a:ext cx="9483634" cy="0"/>
          </a:xfrm>
          <a:prstGeom prst="line">
            <a:avLst/>
          </a:prstGeom>
          <a:noFill/>
          <a:ln w="25400">
            <a:solidFill>
              <a:srgbClr val="D5DAE4"/>
            </a:solidFill>
            <a:prstDash val="solid"/>
          </a:ln>
        </p:spPr>
      </p:sp>
      <p:sp>
        <p:nvSpPr>
          <p:cNvPr id="10" name="Shape 8"/>
          <p:cNvSpPr/>
          <p:nvPr/>
        </p:nvSpPr>
        <p:spPr>
          <a:xfrm>
            <a:off x="1220071" y="1984248"/>
            <a:ext cx="237744" cy="237744"/>
          </a:xfrm>
          <a:prstGeom prst="ellipse">
            <a:avLst/>
          </a:prstGeom>
          <a:solidFill>
            <a:srgbClr val="5B6475"/>
          </a:solidFill>
          <a:ln w="25400">
            <a:solidFill>
              <a:srgbClr val="FFFFFF"/>
            </a:solidFill>
            <a:prstDash val="solid"/>
          </a:ln>
        </p:spPr>
      </p:sp>
      <p:sp>
        <p:nvSpPr>
          <p:cNvPr id="11" name="Text 9"/>
          <p:cNvSpPr/>
          <p:nvPr/>
        </p:nvSpPr>
        <p:spPr>
          <a:xfrm>
            <a:off x="548640" y="1554480"/>
            <a:ext cx="1580606" cy="320040"/>
          </a:xfrm>
          <a:prstGeom prst="rect">
            <a:avLst/>
          </a:prstGeom>
          <a:noFill/>
          <a:ln/>
        </p:spPr>
        <p:txBody>
          <a:bodyPr wrap="square" lIns="0" tIns="0" rIns="0" bIns="0" rtlCol="0" anchor="ctr"/>
          <a:lstStyle/>
          <a:p>
            <a:pPr algn="ctr" indent="0" marL="0">
              <a:buNone/>
            </a:pPr>
            <a:r>
              <a:rPr lang="en-US" sz="1100" b="1" dirty="0">
                <a:solidFill>
                  <a:srgbClr val="5B6475"/>
                </a:solidFill>
                <a:latin typeface="Calibri" pitchFamily="34" charset="0"/>
                <a:ea typeface="Calibri" pitchFamily="34" charset="-122"/>
                <a:cs typeface="Calibri" pitchFamily="34" charset="-120"/>
              </a:rPr>
              <a:t>2023 sonu</a:t>
            </a:r>
            <a:endParaRPr lang="en-US" sz="1100" dirty="0"/>
          </a:p>
        </p:txBody>
      </p:sp>
      <p:sp>
        <p:nvSpPr>
          <p:cNvPr id="12" name="Text 10"/>
          <p:cNvSpPr/>
          <p:nvPr/>
        </p:nvSpPr>
        <p:spPr>
          <a:xfrm>
            <a:off x="594360"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Paralel raporlama başladı</a:t>
            </a:r>
            <a:endParaRPr lang="en-US" sz="1100" dirty="0"/>
          </a:p>
        </p:txBody>
      </p:sp>
      <p:sp>
        <p:nvSpPr>
          <p:cNvPr id="13" name="Text 11"/>
          <p:cNvSpPr/>
          <p:nvPr/>
        </p:nvSpPr>
        <p:spPr>
          <a:xfrm>
            <a:off x="576072" y="3063240"/>
            <a:ext cx="1525742" cy="3200400"/>
          </a:xfrm>
          <a:prstGeom prst="rect">
            <a:avLst/>
          </a:prstGeom>
          <a:solidFill>
            <a:srgbClr val="F4F6FA"/>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IFRS 17 ve IFRS 4 aynı anda raporlanıyor; iki kapanış birlikte yürütülüyor.</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Etkisi: Veri, mutabakat ve kontrol işleri iki kapanış için ayrı ayrı yürüyor; kapanış takvimi sıkışık.</a:t>
            </a:r>
            <a:endParaRPr lang="en-US" sz="1050" dirty="0"/>
          </a:p>
        </p:txBody>
      </p:sp>
      <p:sp>
        <p:nvSpPr>
          <p:cNvPr id="14" name="Shape 12"/>
          <p:cNvSpPr/>
          <p:nvPr/>
        </p:nvSpPr>
        <p:spPr>
          <a:xfrm>
            <a:off x="2800677" y="1984248"/>
            <a:ext cx="237744" cy="237744"/>
          </a:xfrm>
          <a:prstGeom prst="ellipse">
            <a:avLst/>
          </a:prstGeom>
          <a:solidFill>
            <a:srgbClr val="5B6475"/>
          </a:solidFill>
          <a:ln w="25400">
            <a:solidFill>
              <a:srgbClr val="FFFFFF"/>
            </a:solidFill>
            <a:prstDash val="solid"/>
          </a:ln>
        </p:spPr>
      </p:sp>
      <p:sp>
        <p:nvSpPr>
          <p:cNvPr id="15" name="Text 13"/>
          <p:cNvSpPr/>
          <p:nvPr/>
        </p:nvSpPr>
        <p:spPr>
          <a:xfrm>
            <a:off x="2129246" y="1554480"/>
            <a:ext cx="1580606" cy="320040"/>
          </a:xfrm>
          <a:prstGeom prst="rect">
            <a:avLst/>
          </a:prstGeom>
          <a:noFill/>
          <a:ln/>
        </p:spPr>
        <p:txBody>
          <a:bodyPr wrap="square" lIns="0" tIns="0" rIns="0" bIns="0" rtlCol="0" anchor="ctr"/>
          <a:lstStyle/>
          <a:p>
            <a:pPr algn="ctr" indent="0" marL="0">
              <a:buNone/>
            </a:pPr>
            <a:r>
              <a:rPr lang="en-US" sz="1100" b="1" dirty="0">
                <a:solidFill>
                  <a:srgbClr val="5B6475"/>
                </a:solidFill>
                <a:latin typeface="Calibri" pitchFamily="34" charset="0"/>
                <a:ea typeface="Calibri" pitchFamily="34" charset="-122"/>
                <a:cs typeface="Calibri" pitchFamily="34" charset="-120"/>
              </a:rPr>
              <a:t>2024 sonu</a:t>
            </a:r>
            <a:endParaRPr lang="en-US" sz="1100" dirty="0"/>
          </a:p>
        </p:txBody>
      </p:sp>
      <p:sp>
        <p:nvSpPr>
          <p:cNvPr id="16" name="Text 14"/>
          <p:cNvSpPr/>
          <p:nvPr/>
        </p:nvSpPr>
        <p:spPr>
          <a:xfrm>
            <a:off x="2174966"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İlk denetim: bulgu yok</a:t>
            </a:r>
            <a:endParaRPr lang="en-US" sz="1100" dirty="0"/>
          </a:p>
        </p:txBody>
      </p:sp>
      <p:sp>
        <p:nvSpPr>
          <p:cNvPr id="17" name="Text 15"/>
          <p:cNvSpPr/>
          <p:nvPr/>
        </p:nvSpPr>
        <p:spPr>
          <a:xfrm>
            <a:off x="2156678" y="3063240"/>
            <a:ext cx="1525742" cy="3200400"/>
          </a:xfrm>
          <a:prstGeom prst="rect">
            <a:avLst/>
          </a:prstGeom>
          <a:solidFill>
            <a:srgbClr val="F4F6FA"/>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Yıl sonu denetimi geçildi, bulgu çıkmadı.</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Etkisi: Bulgu çıkmaması, sonraki denetimlerde sorular detaylandığında da yeterli olacağı anlamına gelmez.</a:t>
            </a:r>
            <a:endParaRPr lang="en-US" sz="1050" dirty="0"/>
          </a:p>
        </p:txBody>
      </p:sp>
      <p:sp>
        <p:nvSpPr>
          <p:cNvPr id="18" name="Shape 16"/>
          <p:cNvSpPr/>
          <p:nvPr/>
        </p:nvSpPr>
        <p:spPr>
          <a:xfrm>
            <a:off x="4381282" y="1984248"/>
            <a:ext cx="237744" cy="237744"/>
          </a:xfrm>
          <a:prstGeom prst="ellipse">
            <a:avLst/>
          </a:prstGeom>
          <a:solidFill>
            <a:srgbClr val="5B6475"/>
          </a:solidFill>
          <a:ln w="25400">
            <a:solidFill>
              <a:srgbClr val="FFFFFF"/>
            </a:solidFill>
            <a:prstDash val="solid"/>
          </a:ln>
        </p:spPr>
      </p:sp>
      <p:sp>
        <p:nvSpPr>
          <p:cNvPr id="19" name="Text 17"/>
          <p:cNvSpPr/>
          <p:nvPr/>
        </p:nvSpPr>
        <p:spPr>
          <a:xfrm>
            <a:off x="3709851" y="1554480"/>
            <a:ext cx="1580606" cy="320040"/>
          </a:xfrm>
          <a:prstGeom prst="rect">
            <a:avLst/>
          </a:prstGeom>
          <a:noFill/>
          <a:ln/>
        </p:spPr>
        <p:txBody>
          <a:bodyPr wrap="square" lIns="0" tIns="0" rIns="0" bIns="0" rtlCol="0" anchor="ctr"/>
          <a:lstStyle/>
          <a:p>
            <a:pPr algn="ctr" indent="0" marL="0">
              <a:buNone/>
            </a:pPr>
            <a:r>
              <a:rPr lang="en-US" sz="1100" b="1" dirty="0">
                <a:solidFill>
                  <a:srgbClr val="5B6475"/>
                </a:solidFill>
                <a:latin typeface="Calibri" pitchFamily="34" charset="0"/>
                <a:ea typeface="Calibri" pitchFamily="34" charset="-122"/>
                <a:cs typeface="Calibri" pitchFamily="34" charset="-120"/>
              </a:rPr>
              <a:t>2025 sonu</a:t>
            </a:r>
            <a:endParaRPr lang="en-US" sz="1100" dirty="0"/>
          </a:p>
        </p:txBody>
      </p:sp>
      <p:sp>
        <p:nvSpPr>
          <p:cNvPr id="20" name="Text 18"/>
          <p:cNvSpPr/>
          <p:nvPr/>
        </p:nvSpPr>
        <p:spPr>
          <a:xfrm>
            <a:off x="3755571"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İkinci denetim: bulgu yok</a:t>
            </a:r>
            <a:endParaRPr lang="en-US" sz="1100" dirty="0"/>
          </a:p>
        </p:txBody>
      </p:sp>
      <p:sp>
        <p:nvSpPr>
          <p:cNvPr id="21" name="Text 19"/>
          <p:cNvSpPr/>
          <p:nvPr/>
        </p:nvSpPr>
        <p:spPr>
          <a:xfrm>
            <a:off x="3737283" y="3063240"/>
            <a:ext cx="1525742" cy="3200400"/>
          </a:xfrm>
          <a:prstGeom prst="rect">
            <a:avLst/>
          </a:prstGeom>
          <a:solidFill>
            <a:srgbClr val="F4F6FA"/>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Yıl sonu denetimi bir kez daha bulgusuz geçildi.</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Etkisi: Asıl baskı yerel ve grup (IG) denetiminin IFRS 17 sorularından geliyor.</a:t>
            </a:r>
            <a:endParaRPr lang="en-US" sz="1050" dirty="0"/>
          </a:p>
        </p:txBody>
      </p:sp>
      <p:sp>
        <p:nvSpPr>
          <p:cNvPr id="22" name="Shape 20"/>
          <p:cNvSpPr/>
          <p:nvPr/>
        </p:nvSpPr>
        <p:spPr>
          <a:xfrm>
            <a:off x="5961888" y="1984248"/>
            <a:ext cx="237744" cy="237744"/>
          </a:xfrm>
          <a:prstGeom prst="ellipse">
            <a:avLst/>
          </a:prstGeom>
          <a:solidFill>
            <a:srgbClr val="0F766E"/>
          </a:solidFill>
          <a:ln w="25400">
            <a:solidFill>
              <a:srgbClr val="FFFFFF"/>
            </a:solidFill>
            <a:prstDash val="solid"/>
          </a:ln>
        </p:spPr>
      </p:sp>
      <p:sp>
        <p:nvSpPr>
          <p:cNvPr id="23" name="Text 21"/>
          <p:cNvSpPr/>
          <p:nvPr/>
        </p:nvSpPr>
        <p:spPr>
          <a:xfrm>
            <a:off x="5290457" y="1554480"/>
            <a:ext cx="1580606" cy="32004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2026 · şimdi</a:t>
            </a:r>
            <a:endParaRPr lang="en-US" sz="1100" dirty="0"/>
          </a:p>
        </p:txBody>
      </p:sp>
      <p:sp>
        <p:nvSpPr>
          <p:cNvPr id="24" name="Text 22"/>
          <p:cNvSpPr/>
          <p:nvPr/>
        </p:nvSpPr>
        <p:spPr>
          <a:xfrm>
            <a:off x="5336177"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Denetim yorumları ve hazırlık</a:t>
            </a:r>
            <a:endParaRPr lang="en-US" sz="1100" dirty="0"/>
          </a:p>
        </p:txBody>
      </p:sp>
      <p:sp>
        <p:nvSpPr>
          <p:cNvPr id="25" name="Text 23"/>
          <p:cNvSpPr/>
          <p:nvPr/>
        </p:nvSpPr>
        <p:spPr>
          <a:xfrm>
            <a:off x="5317889" y="3063240"/>
            <a:ext cx="1525742" cy="3200400"/>
          </a:xfrm>
          <a:prstGeom prst="rect">
            <a:avLst/>
          </a:prstGeom>
          <a:solidFill>
            <a:srgbClr val="DDEFEC"/>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IG ve lokal denetimde IFRS 17 incelendi. Yorumlar: ekip sirkülasyonu fazla, IFRS 17 eğitimleri alınmamış, detaylı sorulara karşı hazırlık yok. PyCaT'in unit of account yapısı nakit akışlarını sınırlıyor.</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Aksiyon: Eğitim ve kadro planı başladı (5 kişi alındı), araç araştırması sürüyor: RAFM için WTW ile görüşüldü, Prophet için görüşme planlanıyor, Head Office ile GPM konuşuldu.</a:t>
            </a:r>
            <a:endParaRPr lang="en-US" sz="1050" dirty="0"/>
          </a:p>
        </p:txBody>
      </p:sp>
      <p:sp>
        <p:nvSpPr>
          <p:cNvPr id="26" name="Shape 24"/>
          <p:cNvSpPr/>
          <p:nvPr/>
        </p:nvSpPr>
        <p:spPr>
          <a:xfrm>
            <a:off x="7542494" y="1984248"/>
            <a:ext cx="237744" cy="237744"/>
          </a:xfrm>
          <a:prstGeom prst="ellipse">
            <a:avLst/>
          </a:prstGeom>
          <a:solidFill>
            <a:srgbClr val="B45309"/>
          </a:solidFill>
          <a:ln w="25400">
            <a:solidFill>
              <a:srgbClr val="FFFFFF"/>
            </a:solidFill>
            <a:prstDash val="solid"/>
          </a:ln>
        </p:spPr>
      </p:sp>
      <p:sp>
        <p:nvSpPr>
          <p:cNvPr id="27" name="Text 25"/>
          <p:cNvSpPr/>
          <p:nvPr/>
        </p:nvSpPr>
        <p:spPr>
          <a:xfrm>
            <a:off x="6871063" y="1554480"/>
            <a:ext cx="1580606" cy="320040"/>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Haftaya Pzt-Çar</a:t>
            </a:r>
            <a:endParaRPr lang="en-US" sz="1100" dirty="0"/>
          </a:p>
        </p:txBody>
      </p:sp>
      <p:sp>
        <p:nvSpPr>
          <p:cNvPr id="28" name="Text 26"/>
          <p:cNvSpPr/>
          <p:nvPr/>
        </p:nvSpPr>
        <p:spPr>
          <a:xfrm>
            <a:off x="6916783"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Toplantıdaki son tarih</a:t>
            </a:r>
            <a:endParaRPr lang="en-US" sz="1100" dirty="0"/>
          </a:p>
        </p:txBody>
      </p:sp>
      <p:sp>
        <p:nvSpPr>
          <p:cNvPr id="29" name="Text 27"/>
          <p:cNvSpPr/>
          <p:nvPr/>
        </p:nvSpPr>
        <p:spPr>
          <a:xfrm>
            <a:off x="6898495" y="3063240"/>
            <a:ext cx="1525742" cy="3200400"/>
          </a:xfrm>
          <a:prstGeom prst="rect">
            <a:avLst/>
          </a:prstGeom>
          <a:solidFill>
            <a:srgbClr val="F4F6FA"/>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Çalışmanın sonlanmaya yaklaşmış olması bekleniyor.</a:t>
            </a:r>
            <a:endParaRPr lang="en-US" sz="1050" dirty="0"/>
          </a:p>
        </p:txBody>
      </p:sp>
      <p:sp>
        <p:nvSpPr>
          <p:cNvPr id="30" name="Shape 28"/>
          <p:cNvSpPr/>
          <p:nvPr/>
        </p:nvSpPr>
        <p:spPr>
          <a:xfrm>
            <a:off x="9123099" y="1984248"/>
            <a:ext cx="237744" cy="237744"/>
          </a:xfrm>
          <a:prstGeom prst="ellipse">
            <a:avLst/>
          </a:prstGeom>
          <a:solidFill>
            <a:srgbClr val="8FA0BF"/>
          </a:solidFill>
          <a:ln w="25400">
            <a:solidFill>
              <a:srgbClr val="FFFFFF"/>
            </a:solidFill>
            <a:prstDash val="solid"/>
          </a:ln>
        </p:spPr>
      </p:sp>
      <p:sp>
        <p:nvSpPr>
          <p:cNvPr id="31" name="Text 29"/>
          <p:cNvSpPr/>
          <p:nvPr/>
        </p:nvSpPr>
        <p:spPr>
          <a:xfrm>
            <a:off x="8451669" y="1554480"/>
            <a:ext cx="1580606" cy="320040"/>
          </a:xfrm>
          <a:prstGeom prst="rect">
            <a:avLst/>
          </a:prstGeom>
          <a:noFill/>
          <a:ln/>
        </p:spPr>
        <p:txBody>
          <a:bodyPr wrap="square" lIns="0" tIns="0" rIns="0" bIns="0" rtlCol="0" anchor="ctr"/>
          <a:lstStyle/>
          <a:p>
            <a:pPr algn="ctr" indent="0" marL="0">
              <a:buNone/>
            </a:pPr>
            <a:r>
              <a:rPr lang="en-US" sz="1100" b="1" dirty="0">
                <a:solidFill>
                  <a:srgbClr val="8FA0BF"/>
                </a:solidFill>
                <a:latin typeface="Calibri" pitchFamily="34" charset="0"/>
                <a:ea typeface="Calibri" pitchFamily="34" charset="-122"/>
                <a:cs typeface="Calibri" pitchFamily="34" charset="-120"/>
              </a:rPr>
              <a:t>2027</a:t>
            </a:r>
            <a:endParaRPr lang="en-US" sz="1100" dirty="0"/>
          </a:p>
        </p:txBody>
      </p:sp>
      <p:sp>
        <p:nvSpPr>
          <p:cNvPr id="32" name="Text 30"/>
          <p:cNvSpPr/>
          <p:nvPr/>
        </p:nvSpPr>
        <p:spPr>
          <a:xfrm>
            <a:off x="8497389"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Planlanan uygulamaya alma</a:t>
            </a:r>
            <a:endParaRPr lang="en-US" sz="1100" dirty="0"/>
          </a:p>
        </p:txBody>
      </p:sp>
      <p:sp>
        <p:nvSpPr>
          <p:cNvPr id="33" name="Text 31"/>
          <p:cNvSpPr/>
          <p:nvPr/>
        </p:nvSpPr>
        <p:spPr>
          <a:xfrm>
            <a:off x="8479101" y="3063240"/>
            <a:ext cx="1525742" cy="3200400"/>
          </a:xfrm>
          <a:prstGeom prst="rect">
            <a:avLst/>
          </a:prstGeom>
          <a:solidFill>
            <a:srgbClr val="F4F6FA"/>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IFRS 17'nin uygulamaya alınması başlangıçta 2027 için planlanmıştı.</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Etkisi: Araç geçişi, bu tarihten önce en az bir kapanış döngüsünde paralel koşuyla doğrulanmış olmalıydı.</a:t>
            </a:r>
            <a:endParaRPr lang="en-US" sz="1050" dirty="0"/>
          </a:p>
        </p:txBody>
      </p:sp>
      <p:sp>
        <p:nvSpPr>
          <p:cNvPr id="34" name="Shape 32"/>
          <p:cNvSpPr/>
          <p:nvPr/>
        </p:nvSpPr>
        <p:spPr>
          <a:xfrm>
            <a:off x="10703705" y="1984248"/>
            <a:ext cx="237744" cy="237744"/>
          </a:xfrm>
          <a:prstGeom prst="ellipse">
            <a:avLst/>
          </a:prstGeom>
          <a:solidFill>
            <a:srgbClr val="8FA0BF"/>
          </a:solidFill>
          <a:ln w="25400">
            <a:solidFill>
              <a:srgbClr val="FFFFFF"/>
            </a:solidFill>
            <a:prstDash val="solid"/>
          </a:ln>
        </p:spPr>
      </p:sp>
      <p:sp>
        <p:nvSpPr>
          <p:cNvPr id="35" name="Text 33"/>
          <p:cNvSpPr/>
          <p:nvPr/>
        </p:nvSpPr>
        <p:spPr>
          <a:xfrm>
            <a:off x="10032274" y="1554480"/>
            <a:ext cx="1580606" cy="320040"/>
          </a:xfrm>
          <a:prstGeom prst="rect">
            <a:avLst/>
          </a:prstGeom>
          <a:noFill/>
          <a:ln/>
        </p:spPr>
        <p:txBody>
          <a:bodyPr wrap="square" lIns="0" tIns="0" rIns="0" bIns="0" rtlCol="0" anchor="ctr"/>
          <a:lstStyle/>
          <a:p>
            <a:pPr algn="ctr" indent="0" marL="0">
              <a:buNone/>
            </a:pPr>
            <a:r>
              <a:rPr lang="en-US" sz="1100" b="1" dirty="0">
                <a:solidFill>
                  <a:srgbClr val="8FA0BF"/>
                </a:solidFill>
                <a:latin typeface="Calibri" pitchFamily="34" charset="0"/>
                <a:ea typeface="Calibri" pitchFamily="34" charset="-122"/>
                <a:cs typeface="Calibri" pitchFamily="34" charset="-120"/>
              </a:rPr>
              <a:t>2028 · tahmin</a:t>
            </a:r>
            <a:endParaRPr lang="en-US" sz="1100" dirty="0"/>
          </a:p>
        </p:txBody>
      </p:sp>
      <p:sp>
        <p:nvSpPr>
          <p:cNvPr id="36" name="Text 34"/>
          <p:cNvSpPr/>
          <p:nvPr/>
        </p:nvSpPr>
        <p:spPr>
          <a:xfrm>
            <a:off x="10077994" y="2286000"/>
            <a:ext cx="1489166" cy="64008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Güncel tahmin</a:t>
            </a:r>
            <a:endParaRPr lang="en-US" sz="1100" dirty="0"/>
          </a:p>
        </p:txBody>
      </p:sp>
      <p:sp>
        <p:nvSpPr>
          <p:cNvPr id="37" name="Text 35"/>
          <p:cNvSpPr/>
          <p:nvPr/>
        </p:nvSpPr>
        <p:spPr>
          <a:xfrm>
            <a:off x="10059706" y="3063240"/>
            <a:ext cx="1525742" cy="3200400"/>
          </a:xfrm>
          <a:prstGeom prst="rect">
            <a:avLst/>
          </a:prstGeom>
          <a:solidFill>
            <a:srgbClr val="F4F6FA"/>
          </a:solidFill>
          <a:ln/>
        </p:spPr>
        <p:txBody>
          <a:bodyPr wrap="square" lIns="762" tIns="762" rIns="762" bIns="762"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Ne oldu: Uygulamaya almanın 2028'de olacağı tahmin ediliyor.</a:t>
            </a:r>
            <a:endParaRPr lang="en-US" sz="1050" dirty="0"/>
          </a:p>
          <a:p>
            <a:pPr algn="l" indent="0" marL="0">
              <a:buNone/>
            </a:pPr>
            <a:r>
              <a:rPr lang="en-US" sz="1050" dirty="0">
                <a:solidFill>
                  <a:srgbClr val="1F2937"/>
                </a:solidFill>
                <a:latin typeface="Calibri" pitchFamily="34" charset="0"/>
                <a:ea typeface="Calibri" pitchFamily="34" charset="-122"/>
                <a:cs typeface="Calibri" pitchFamily="34" charset="-120"/>
              </a:rPr>
              <a:t>Etkisi: Ek süre, pilot ve paralel koşu için fırsat; fakat paralel raporlama yükü de uzar. Araç seçimi kesinleşen tarihe göre planlanmalı.</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BAĞLAM</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Kim ne yapıyor? (1/2)</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Aktüerya, IT, muhasebe, iş ortakları ve denetim.</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5</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737360"/>
                <a:gridCol w="914400"/>
                <a:gridCol w="2377440"/>
                <a:gridCol w="4937760"/>
                <a:gridCol w="10972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Paydaş</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Tür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Detay</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Süreç adımları</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Aktüerya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İç ekip</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Tanımlar, input kontrolü, PyCaT run'ı, çıktı incelemesi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Tarife numaraları ve IFRS 17 tanımlama tablosunu hazırlar, IT'den gelen input'u kontrol eder, PyCaT run'ını alır, SAS çıktılarını inceler ve onaylanan sonucu muhasebeye gönderir.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2, 3, 5, 6, 7, 10, 11, 13, 14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IT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İç ekip</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Veri taşıma, birleştirme, kaynak düzeltme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Kapanış verisini getirir, input gönderir, çıktıları alır; aktüerya ve muhasebe verisini birleştirip Linktera'ya iletir ve kaynağı kendisi olan hataları düzeltir.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1, 2, 3, 4, 7, 8, 9, 10, 11</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Muhasebe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İç ekip</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Muhasebe verisi ve mutabakatın karşı tarafı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IT'ye muhasebe verisini gönderir; kontrollerden sonra aktüeryadan gelen çıktıyı alır ve mutabakatı sağlar.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8, 14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Elçin, IFRS 17 danışmanı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Danışman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Çıktı incelemesi ve eğitim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SAS tablolarını aktüerya ile birlikte inceler. Teknik eğitim ile salt raporlama ve yorumlama eğitimi ondan alınacak.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Linktera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İş ortağı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Birleşik veri, SAS çalıştırması, SAS eğitimi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IT'nin birleştirdiği veri Linktera'ya gider; SAS çalıştırması bu aşamada alınır. SAS teknik eğitimi Linktera'dan alınacak.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9, 12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Head Office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Grup</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Online eğitim, GPM aracı, araç tartışması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IFRS 17 online eğitimini tanımladı; herkes tamamlayacak. Poliçe bazlı aracı GPM. Nakit akışı araçları, PyCaT ve GPM üzerine konuşuldu; değerlendirmeler başladı, eğitimler talep edilecek.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Denetim (IG ve lokal)</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Denetim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IFRS 17 incelemesi, nakit akışı soruları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2024 ve 2025 sonlarında iki denetim geçirildi, bulgu yok. IFRS 17 incelendi; yorumlar sirkülasyon, eğitim ve detay sorularına hazırlık üzerine. Nakit akışında değişiklik ve fark olup olmadığını soran bir e-posta var.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WTW, RAFM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Satıcı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Toplantı yapıldı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Sektörde yaygın kullanılan RAFM için toplantı yapıldı; aracın teknik yapısı ve implementasyonu hakkında bilgi alındı.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BAĞLAM</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Kim ne yapıyor? (2/2)</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6</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914400"/>
                <a:gridCol w="2377440"/>
                <a:gridCol w="4937760"/>
                <a:gridCol w="10972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Paydaş</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Tür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Detay</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Süreç adımları</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FIS, Prophet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Satıcı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Görüşme planlanıyor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Prophet için görüşme hazırlığı yapılıyor.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BAĞLAM</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14 adımlık kapanış süreci (1/2)</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Aktüerya, IT, muhasebe, Linktera ve danışman arasındaki akış.</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7</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365760"/>
                <a:gridCol w="2103120"/>
                <a:gridCol w="1097280"/>
                <a:gridCol w="3108960"/>
                <a:gridCol w="3657600"/>
                <a:gridCol w="75895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Adım</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Sorumlu</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Ne yapılır</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Kontrol noktası / risk</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Bulgu</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Kapanış verisi gelir; veri uygunluğu kontrol edilir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Kapanış dönemi verisi (poliçe, prim, hasar, ödeme) gelir. Süreç, veri uygunluğu (data availability) kontrolüyle başlar.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Teslim tarihi, kayıt sayısı, eksik alan kontrolü.</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Tarife numaraları ve IFRS 17 tanımları belirlenir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 ve aktüerya görüşmeleri başlar: tarife numaraları ve IFRS 17 tanımlamaları yapılır, muhasebe mutabakatı sağlanır. Entegrasyonla süreç başlar ve PyCaT'e gidene kadar paralel ilerler.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Tarife, portföy, kâr grubu ve kohort eşlemesi; muhasebe hesap eşlemesi.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Çıkan tarife numaraları gelir; tanımlama tablosu IT ile paylaşılır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Yeni çıkan tarife numaraları aktüeryaya gelir, tanımlama tablosu güncellenip IT ile paylaşılır.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Her yeni tarife için başlangıç tarihi, UoA ve ürün sınıfı dolu mu?</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Tanım tablosundaki başlangıç tarihi (ör. Şubat) ile yıl başı basılan incurred tarihi çelişebilir.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P2</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 input gönderir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Poliçe ve hasar verisi aktüeryaya gönderilir.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Prim ve kayıt sayısı toplamları kaynak sistemle eşleşir mi?</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Hasar tarafında incurred tarihleri yıllık gelir.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P1, P2</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input'u kontrol eder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Tarih tutarlılığı, tarife eşleşmesi ve değer aralıkları kontrol edilir; hata varsa manuel düzeltme yapılır.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Başlangıç ≤ incurred; bitiş &gt; başlangıç; negatif prim yok.</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Hata giderilirken poliçe tarihi manuel olarak 1 Ocak'a çekiliyor: iş yükü artıyor, denetim izi zayıflıyor.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P2, P3</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PyCaT run'ı alınır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Nakit akışı projeksiyonu PyCaT ile üretilir; çalıştırma Excel makrosuyla tetiklenir.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Run günlüğü; giriş ve çıkış kayıt sayısı.</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Ortalama süre ve yıllık incurred kullanılıyor; initial cashflow çalışmıyor; rezerv çözme ve expected coverage mantığı sorunlu.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P1, P5, P6, P7</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Çıktılar IT ile paylaşılır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PyCaT çıktıları IT'ye iletilir.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Dosya adı, dönem ve sürüm bilgisi.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Muhasebe IT'ye veri gönderir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Muhasebe, 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Muhasebe tarafındaki kapanış verisi IT'ye gönderilir.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Muhasebe toplamları.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 iki veriyi birleştirir ve Linktera'ya gönderir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 Linktera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çıktıları ile muhasebe verisi birleştirilir; birleşik veri Linktera'ya gider.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Birleştirme anahtarının (poliçe veya UoA) eşleşme oranı.</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Run'ı alınan çıktı içeri gitmeyebilir.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P4</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BAĞLAM</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14 adımlık kapanış süreci (2/2)</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8</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65760"/>
                <a:gridCol w="2103120"/>
                <a:gridCol w="1097280"/>
                <a:gridCol w="3108960"/>
                <a:gridCol w="3657600"/>
                <a:gridCol w="75895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Adım</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Sorumlu</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Ne yapılır</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Kontrol noktası / risk</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Bulgu</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Kalite kontrolü yapılır; bulgulara göre geri dönüş verilir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Kalite (quality) kontrolünde çıkan bulgulara göre ilgili adıma geri dönülür. [Sorumlu doğrulanacak]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Reddedilen kayıt listesi ve açıklamaları.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Gerekli aksiyonlarla input düzeltilir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 Aktüerya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Kaynağı IT olan hatayı IT düzeltir; düzeltmeden sonra süreç yeniden çalışır.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Düzeltme kaydı: ne, kim, ne zaman.</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Kayıt tutulmazsa değişiklikler izlenemez.</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P3</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SAS run'ı alınır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Linktera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Birleştirilmiş ve kalite kontrolünden geçmiş veriyle SAS çalıştırması yapılır. [Sorumlu doğrulanacak]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Çalıştırma günlüğü ve hata raporu.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Tablolar incelenir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Elçin</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SAS çıktı tabloları aktüerya ve IFRS 17 danışmanı Elçin tarafından incelenir.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Roll-forward tutarlılığı; önceki dönemle fark analizi.</a:t>
                      </a:r>
                      <a:endParaRPr lang="en-US" sz="1000" dirty="0">
                        <a:latin typeface="Calibri" charset="0"/>
                        <a:ea typeface="Calibri" charset="0"/>
                        <a:cs typeface="Calibri" charset="0"/>
                      </a:endParaRPr>
                    </a:p>
                    <a:p>
                      <a:pPr indent="0" marL="0">
                        <a:buNone/>
                      </a:pPr>
                      <a:r>
                        <a:rPr lang="en-US" sz="1000" dirty="0">
                          <a:solidFill>
                            <a:srgbClr val="1F2937"/>
                          </a:solidFill>
                          <a:latin typeface="Calibri" pitchFamily="34" charset="0"/>
                          <a:ea typeface="Calibri" pitchFamily="34" charset="-122"/>
                          <a:cs typeface="Calibri" pitchFamily="34" charset="-120"/>
                        </a:rPr>
                        <a:t>Risk: Rezerv çözme ve gelir dağılımındaki mantık hataları burada görünür hale gelir.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P5, P6</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Her şey normalse muhasebeye gönderilir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Muhasebe</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Kontroller tamamlandığında çıktılar muhasebeye iletilir.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Muhasebe mutabakatı ve onay.</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P4</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TEKNIK</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IFRS 17 nakit akışı: temel kavramlar</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9</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8" name="Shape 6"/>
          <p:cNvSpPr/>
          <p:nvPr/>
        </p:nvSpPr>
        <p:spPr>
          <a:xfrm>
            <a:off x="548640" y="1463040"/>
            <a:ext cx="3566160" cy="2194560"/>
          </a:xfrm>
          <a:prstGeom prst="rect">
            <a:avLst/>
          </a:prstGeom>
          <a:solidFill>
            <a:srgbClr val="F4F6FA"/>
          </a:solidFill>
          <a:ln w="9525">
            <a:solidFill>
              <a:srgbClr val="D5DAE4"/>
            </a:solidFill>
            <a:prstDash val="solid"/>
          </a:ln>
        </p:spPr>
      </p:sp>
      <p:sp>
        <p:nvSpPr>
          <p:cNvPr id="9" name="Shape 7"/>
          <p:cNvSpPr/>
          <p:nvPr/>
        </p:nvSpPr>
        <p:spPr>
          <a:xfrm>
            <a:off x="548640" y="1463040"/>
            <a:ext cx="64008" cy="2194560"/>
          </a:xfrm>
          <a:prstGeom prst="rect">
            <a:avLst/>
          </a:prstGeom>
          <a:solidFill>
            <a:srgbClr val="0F766E"/>
          </a:solidFill>
          <a:ln w="12700">
            <a:solidFill>
              <a:srgbClr val="0F766E"/>
            </a:solidFill>
            <a:prstDash val="solid"/>
          </a:ln>
        </p:spPr>
      </p:sp>
      <p:sp>
        <p:nvSpPr>
          <p:cNvPr id="10" name="Text 8"/>
          <p:cNvSpPr/>
          <p:nvPr/>
        </p:nvSpPr>
        <p:spPr>
          <a:xfrm>
            <a:off x="731520" y="1536192"/>
            <a:ext cx="3291840" cy="204825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Yerine getirme nakit akışları (FCF)</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Gelecekteki prim, hasar ve gider akışlarının bugünkü değeri, artı finansal olmayan risk düzeltmesi (RA).</a:t>
            </a:r>
            <a:endParaRPr lang="en-US" sz="1100" dirty="0"/>
          </a:p>
        </p:txBody>
      </p:sp>
      <p:sp>
        <p:nvSpPr>
          <p:cNvPr id="11" name="Shape 9"/>
          <p:cNvSpPr/>
          <p:nvPr/>
        </p:nvSpPr>
        <p:spPr>
          <a:xfrm>
            <a:off x="4297680" y="1463040"/>
            <a:ext cx="3566160" cy="2194560"/>
          </a:xfrm>
          <a:prstGeom prst="rect">
            <a:avLst/>
          </a:prstGeom>
          <a:solidFill>
            <a:srgbClr val="F4F6FA"/>
          </a:solidFill>
          <a:ln w="9525">
            <a:solidFill>
              <a:srgbClr val="D5DAE4"/>
            </a:solidFill>
            <a:prstDash val="solid"/>
          </a:ln>
        </p:spPr>
      </p:sp>
      <p:sp>
        <p:nvSpPr>
          <p:cNvPr id="12" name="Shape 10"/>
          <p:cNvSpPr/>
          <p:nvPr/>
        </p:nvSpPr>
        <p:spPr>
          <a:xfrm>
            <a:off x="4297680" y="1463040"/>
            <a:ext cx="64008" cy="2194560"/>
          </a:xfrm>
          <a:prstGeom prst="rect">
            <a:avLst/>
          </a:prstGeom>
          <a:solidFill>
            <a:srgbClr val="0F766E"/>
          </a:solidFill>
          <a:ln w="12700">
            <a:solidFill>
              <a:srgbClr val="0F766E"/>
            </a:solidFill>
            <a:prstDash val="solid"/>
          </a:ln>
        </p:spPr>
      </p:sp>
      <p:sp>
        <p:nvSpPr>
          <p:cNvPr id="13" name="Text 11"/>
          <p:cNvSpPr/>
          <p:nvPr/>
        </p:nvSpPr>
        <p:spPr>
          <a:xfrm>
            <a:off x="4480560" y="1536192"/>
            <a:ext cx="3291840" cy="204825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CSM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Sözleşmesel hizmet marjı: ilk kayıtta kâr yazılmasını engeller, hizmet sunuldukça gelire aktarılır (coverage unit ile).</a:t>
            </a:r>
            <a:endParaRPr lang="en-US" sz="1100" dirty="0"/>
          </a:p>
        </p:txBody>
      </p:sp>
      <p:sp>
        <p:nvSpPr>
          <p:cNvPr id="14" name="Shape 12"/>
          <p:cNvSpPr/>
          <p:nvPr/>
        </p:nvSpPr>
        <p:spPr>
          <a:xfrm>
            <a:off x="8046720" y="1463040"/>
            <a:ext cx="3566160" cy="2194560"/>
          </a:xfrm>
          <a:prstGeom prst="rect">
            <a:avLst/>
          </a:prstGeom>
          <a:solidFill>
            <a:srgbClr val="F4F6FA"/>
          </a:solidFill>
          <a:ln w="9525">
            <a:solidFill>
              <a:srgbClr val="D5DAE4"/>
            </a:solidFill>
            <a:prstDash val="solid"/>
          </a:ln>
        </p:spPr>
      </p:sp>
      <p:sp>
        <p:nvSpPr>
          <p:cNvPr id="15" name="Shape 13"/>
          <p:cNvSpPr/>
          <p:nvPr/>
        </p:nvSpPr>
        <p:spPr>
          <a:xfrm>
            <a:off x="8046720" y="1463040"/>
            <a:ext cx="64008" cy="2194560"/>
          </a:xfrm>
          <a:prstGeom prst="rect">
            <a:avLst/>
          </a:prstGeom>
          <a:solidFill>
            <a:srgbClr val="0F766E"/>
          </a:solidFill>
          <a:ln w="12700">
            <a:solidFill>
              <a:srgbClr val="0F766E"/>
            </a:solidFill>
            <a:prstDash val="solid"/>
          </a:ln>
        </p:spPr>
      </p:sp>
      <p:sp>
        <p:nvSpPr>
          <p:cNvPr id="16" name="Text 14"/>
          <p:cNvSpPr/>
          <p:nvPr/>
        </p:nvSpPr>
        <p:spPr>
          <a:xfrm>
            <a:off x="8229600" y="1536192"/>
            <a:ext cx="3291840" cy="204825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Ölçüm birimi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Unit of account: portföy × kâr grubu × yıllık kohort. Poliçe bazlı tahmin serbesttir; CSM, zarar bileşeni ve defter grup düzeyindedir.</a:t>
            </a:r>
            <a:endParaRPr lang="en-US" sz="1100" dirty="0"/>
          </a:p>
        </p:txBody>
      </p:sp>
      <p:sp>
        <p:nvSpPr>
          <p:cNvPr id="17" name="Shape 15"/>
          <p:cNvSpPr/>
          <p:nvPr/>
        </p:nvSpPr>
        <p:spPr>
          <a:xfrm>
            <a:off x="548640" y="3840480"/>
            <a:ext cx="5486400" cy="2286000"/>
          </a:xfrm>
          <a:prstGeom prst="rect">
            <a:avLst/>
          </a:prstGeom>
          <a:solidFill>
            <a:srgbClr val="F4F6FA"/>
          </a:solidFill>
          <a:ln w="9525">
            <a:solidFill>
              <a:srgbClr val="D5DAE4"/>
            </a:solidFill>
            <a:prstDash val="solid"/>
          </a:ln>
        </p:spPr>
      </p:sp>
      <p:sp>
        <p:nvSpPr>
          <p:cNvPr id="18" name="Shape 16"/>
          <p:cNvSpPr/>
          <p:nvPr/>
        </p:nvSpPr>
        <p:spPr>
          <a:xfrm>
            <a:off x="548640" y="3840480"/>
            <a:ext cx="64008" cy="2286000"/>
          </a:xfrm>
          <a:prstGeom prst="rect">
            <a:avLst/>
          </a:prstGeom>
          <a:solidFill>
            <a:srgbClr val="B45309"/>
          </a:solidFill>
          <a:ln w="12700">
            <a:solidFill>
              <a:srgbClr val="B45309"/>
            </a:solidFill>
            <a:prstDash val="solid"/>
          </a:ln>
        </p:spPr>
      </p:sp>
      <p:sp>
        <p:nvSpPr>
          <p:cNvPr id="19" name="Text 17"/>
          <p:cNvSpPr/>
          <p:nvPr/>
        </p:nvSpPr>
        <p:spPr>
          <a:xfrm>
            <a:off x="731520" y="3913632"/>
            <a:ext cx="521208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Poliçe bazlı algoritma (özet)</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Her poliçe için: başlangıç ve bitiş tarihinden kalan vade → aylık prim, hasar, gider akışı → iskonto → gruba toplama → CSM ve zarar testi → roll-forward.</a:t>
            </a:r>
            <a:endParaRPr lang="en-US" sz="1100" dirty="0"/>
          </a:p>
        </p:txBody>
      </p:sp>
      <p:sp>
        <p:nvSpPr>
          <p:cNvPr id="20" name="Shape 18"/>
          <p:cNvSpPr/>
          <p:nvPr/>
        </p:nvSpPr>
        <p:spPr>
          <a:xfrm>
            <a:off x="6217920" y="3840480"/>
            <a:ext cx="5394960" cy="2286000"/>
          </a:xfrm>
          <a:prstGeom prst="rect">
            <a:avLst/>
          </a:prstGeom>
          <a:solidFill>
            <a:srgbClr val="F4F6FA"/>
          </a:solidFill>
          <a:ln w="9525">
            <a:solidFill>
              <a:srgbClr val="D5DAE4"/>
            </a:solidFill>
            <a:prstDash val="solid"/>
          </a:ln>
        </p:spPr>
      </p:sp>
      <p:sp>
        <p:nvSpPr>
          <p:cNvPr id="21" name="Shape 19"/>
          <p:cNvSpPr/>
          <p:nvPr/>
        </p:nvSpPr>
        <p:spPr>
          <a:xfrm>
            <a:off x="6217920" y="3840480"/>
            <a:ext cx="64008" cy="2286000"/>
          </a:xfrm>
          <a:prstGeom prst="rect">
            <a:avLst/>
          </a:prstGeom>
          <a:solidFill>
            <a:srgbClr val="B42318"/>
          </a:solidFill>
          <a:ln w="12700">
            <a:solidFill>
              <a:srgbClr val="B42318"/>
            </a:solidFill>
            <a:prstDash val="solid"/>
          </a:ln>
        </p:spPr>
      </p:sp>
      <p:sp>
        <p:nvSpPr>
          <p:cNvPr id="22" name="Text 20"/>
          <p:cNvSpPr/>
          <p:nvPr/>
        </p:nvSpPr>
        <p:spPr>
          <a:xfrm>
            <a:off x="6400800" y="3913632"/>
            <a:ext cx="512064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PyCaT'te bugün</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Grup düzeyinde ortalama süre ile akış üretimi; incurred tarihleri yıllık; initial cashflow çalışmıyor.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TEKNIK</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Bulgular P1-P7: özet</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Ayrıntılar sonraki slaytlarda.</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10</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548640"/>
                <a:gridCol w="6583680"/>
                <a:gridCol w="2103120"/>
                <a:gridCol w="18288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Bulgu</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Alan</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Etki türü</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Incurred tarihleri yıllık geliyor (Y1, Y2, Y3)</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Veri, Hesap</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Doğruluk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Şubat'ta başlayan UoA, yıl başı basılan hasar: tarih hatası</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Veri bütünlüğü</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Poliçe tarihi manuel olarak 1 Ocak'a çekiliyor</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Veri, Denetim</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Denetlenebilirlik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Run çıktısı içeri gitmeyebilir; mutabakat sağlanamayabilir</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Muhasebe</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Veri bütünlüğü</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P5</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Rezerv çözme mantığı ters çalışıyor</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Hesap, Muhasebe</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Mantık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P6</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Expected coverage yerine earned premium kullanılıyor</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Hesap, Denetim</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Mantık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P7</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Initial cashflow çalışmıyor; ortalama süre kullanılıyor</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Hesap, Veri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Doğruluk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P1</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Incurred tarihleri yıllık geliyor (Y1, Y2, Y3)</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Veri · Hesap  |  Doğruluk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11</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Nakit akışı tarihleri aylık iken incurred tarihler PyCaT yapısı gereği yıllık geliyor ve Y1, Y2, Y3 dönemleri olarak adlandırılıyor. Hepsi yıl başı olarak basılıyor; claim cashflow'da incurred tarih yıllık ya da aylık oluşturulamıyor. Aylık gelişim gözlemlenemediği için varsayımlarla ilerleniyor. Gerçek veriyle ilerleyip başlangıç, bitiş ve hasar tarihi bilinseydi Ocak 2025 nakit akışı aylık olurdu; yıl sonundaki bir değer olmazdı.</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Hasar ödeme zamanlaması iskontoyu, gerçekleşen-beklenen (experience variance) analizini ve LIC/LRC ayrımını doğrudan etkiler. Aylık gelişim gözlemlenemeyince varsayımın doğruluğu sınanamaz.</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Aylık gelişim varsayımını belgele; yıl başı, yıl ortası ve ay bazlı üç senaryoyla duyarlılık göster.</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Kaynaktan ay bazlı hasar tarihi (incurred) al; poliçe ve hasar bazlı projeksiyon kur.</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Bir poliçe ve ona bağlı hasarlarla aylık ve yıllık sonuçları karşılaştır.</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4, 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P2</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Şubat'ta başlayan UoA, yıl başı basılan hasar: tarih hatası</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Veri  |  Veri bütünlüğü</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12</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Birden fazla SAS tablosunda yıl başı incurred çekildiğinde, ilgili UoA poliçeleri Şubat'ta başlıyor ve hasarın da Şubat'ta başlaması beklenir. Hasar tarafında incurred tarihleri bilinmediği ve yıl başı basıldığı için, tanım tablosunda başlangıç tarihi Şubat olan UoA'nın verileri içeri alınamıyor; tarihte mantıksal indeks hatası doğuyor.</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Hasar, poliçe başlangıcından önce gerçekleşmiş görünüyor. Kohort ataması ve sözleşme sınırı tarihlere dayandığı için kayıt reddediliyor ya da yanlış döneme düşüyor.</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Yükleme öncesi tarih doğrulama raporu: incurred tarihi başlangıçtan önce olan kayıtları gerekçesiyle listele.</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Gerçek incurred tarihi; ay bazlı dönem anahtarı; tanım tablosundaki başlangıç tarihiyle otomatik tutarlılık kuralı.</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Canlı örnek (Incurred tarihi sekmesi) ve Şubat başlangıçlı bir UoA'dan gerçek bir vaka.</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3, 4, 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P3</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Poliçe tarihi manuel olarak 1 Ocak'a çekiliyor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Veri · Denetim  |  Denetlenebilirlik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13</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Manuel kontrol sonrasında poliçe tarihi 1 Ocak'a çekiliyor; yine de incurred date hatası verebiliyor. İş yükü artıyor ve gereksiz kontrol noktası doğuyor. IT yanlış bir poliçeye uygulama yapabilir (operasyonel hata).</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Kaynak veri değiştiği için denetlenebilirlik ilkesi zayıflıyor: neyin neden değiştirildiği izlenemiyor. Yıllık poliçede kazanılmış prim, yıl sonuna kadar olması gerekenden fazla görünür.</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Her manuel değişiklik için kayıt: poliçe no, eski ve yeni tarih, gerekçe, onaylayan. İkinci göz kontrolü.</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Kaynak veriyi değiştirmeden dönem anahtarı üreten kural tabanlı yapı; manuel müdahaleyi sıfıra indir.</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Son kapanıştaki manuel müdahalelerin sayısı ve türü çıkarılır.</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5, 11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P4</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Run çıktısı içeri gitmeyebilir; mutabakat sağlanamayabilir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Muhasebe  |  Veri bütünlüğü</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14</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Run'ı alınan çıktı SAS ve muhasebe yüklemesine girmeyebilir; bu durumda mutabakat sağlanamaz.</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Kapanış gecikir; farkın kaynağı (veri, tarih, eşleşme) geç bulunur.</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Yükleme öncesi kontrol toplamları: kayıt sayısı, prim ve nakit akışı toplamı; reddedilen kayıt listesi.</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Run, yükleme ve muhasebe mutabakatını otomatik üreten kontrol raporu.</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Son iki kapanışta reddedilen ve eşleşmeyen kayıtların dökümü.</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9, 13,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P5</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Rezerv çözme mantığı ters çalışıyor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Hesap · Muhasebe  |  Mantık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15</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Primi değerlendirmesi gerekirken PyCaT rezervi çözdürüyor; bu da mantık çelişkisi doğuruyor.</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Hizmet sunuldukça gelir ve rezerv çözümü birbiriyle tutarlı olmalı. Ters mantık, gelir tanıma ve LRC hareket tablosunun doğruluğunu bozar.</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Etkilenen hesaplar için dönem sonunda manuel mutabakat ve açıklama notu.</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Çözme (release) mantığını yazılı spesifikasyonda yeniden tanımla; test vakalarıyla doğrula.</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Spesifikasyon ile kod mantığı yan yana okunur; tek bir poliçe uçtan uca izlenir.</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6, 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P6</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Expected coverage yerine earned premium kullanılıyor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Hesap · Denetim  |  Mantık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16</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IFRS 17'de rezerv, expected coverage'a (beklenen teminat) göre ayrılmalıdır; PyCaT yüzünden hesaplama earned premium (kazanılmış prim) üzerinden yapılıyor. Cari dönem, risk driver tablosuna actual olarak alınıyor.</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Risk ve hizmetin zamana dağılımı doğrusal olmayabilir; kazanılmış prim ise zamana göre dağılır. Fark, ürünlere göre gelir ve rezerv zamanlamasını kaydırır.</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Ürün bazında risk dağılımı (coverage pattern) varsayımını belgele; earned premium ile farkı örnek ürünlerde hesapla.</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Risk driver ve hizmet birimi (coverage unit) tabanlı dağılım; cari dönemde actual ve beklenenin ayrı izlenmesi.</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İki üründe iki yöntemin gelir dağılımı karşılaştırılır.</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6, 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BULGU P7</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Initial cashflow çalışmıyor; ortalama süre kullanılıyor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Hesap · Veri  |  Doğruluk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17</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Shape 7"/>
          <p:cNvSpPr/>
          <p:nvPr/>
        </p:nvSpPr>
        <p:spPr>
          <a:xfrm>
            <a:off x="548640" y="1783080"/>
            <a:ext cx="5486400" cy="2286000"/>
          </a:xfrm>
          <a:prstGeom prst="rect">
            <a:avLst/>
          </a:prstGeom>
          <a:solidFill>
            <a:srgbClr val="F4F6FA"/>
          </a:solidFill>
          <a:ln w="9525">
            <a:solidFill>
              <a:srgbClr val="D5DAE4"/>
            </a:solidFill>
            <a:prstDash val="solid"/>
          </a:ln>
        </p:spPr>
      </p:sp>
      <p:sp>
        <p:nvSpPr>
          <p:cNvPr id="10" name="Shape 8"/>
          <p:cNvSpPr/>
          <p:nvPr/>
        </p:nvSpPr>
        <p:spPr>
          <a:xfrm>
            <a:off x="548640" y="1783080"/>
            <a:ext cx="64008" cy="2286000"/>
          </a:xfrm>
          <a:prstGeom prst="rect">
            <a:avLst/>
          </a:prstGeom>
          <a:solidFill>
            <a:srgbClr val="B42318"/>
          </a:solidFill>
          <a:ln w="12700">
            <a:solidFill>
              <a:srgbClr val="B42318"/>
            </a:solidFill>
            <a:prstDash val="solid"/>
          </a:ln>
        </p:spPr>
      </p:sp>
      <p:sp>
        <p:nvSpPr>
          <p:cNvPr id="11" name="Text 9"/>
          <p:cNvSpPr/>
          <p:nvPr/>
        </p:nvSpPr>
        <p:spPr>
          <a:xfrm>
            <a:off x="731520" y="1856232"/>
            <a:ext cx="5212080" cy="213969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Ne oluyor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PyCaT initial cashflow'u çalıştırmıyor; varsayımlara ihtiyaç duyuyoruz. Sistem ortalama süreyi (average duration) kullanıyor ve her poliçe 2026 Ocak'ta başlamış gibi nakit akışı üretiyor; elimizde başka veri kalmıyor. Örnek: iki yıllık bir poliçenin üç ayı geçmişse 21 ay kalır; bitiş tarihi biliniyorsa bu hesaplanıp nakit akışı oluşturulabilir.</a:t>
            </a:r>
            <a:endParaRPr lang="en-US" sz="1100" dirty="0"/>
          </a:p>
        </p:txBody>
      </p:sp>
      <p:sp>
        <p:nvSpPr>
          <p:cNvPr id="12" name="Shape 10"/>
          <p:cNvSpPr/>
          <p:nvPr/>
        </p:nvSpPr>
        <p:spPr>
          <a:xfrm>
            <a:off x="6172200" y="1783080"/>
            <a:ext cx="5440680" cy="2286000"/>
          </a:xfrm>
          <a:prstGeom prst="rect">
            <a:avLst/>
          </a:prstGeom>
          <a:solidFill>
            <a:srgbClr val="F4F6FA"/>
          </a:solidFill>
          <a:ln w="9525">
            <a:solidFill>
              <a:srgbClr val="D5DAE4"/>
            </a:solidFill>
            <a:prstDash val="solid"/>
          </a:ln>
        </p:spPr>
      </p:sp>
      <p:sp>
        <p:nvSpPr>
          <p:cNvPr id="13" name="Shape 11"/>
          <p:cNvSpPr/>
          <p:nvPr/>
        </p:nvSpPr>
        <p:spPr>
          <a:xfrm>
            <a:off x="6172200" y="1783080"/>
            <a:ext cx="64008" cy="2286000"/>
          </a:xfrm>
          <a:prstGeom prst="rect">
            <a:avLst/>
          </a:prstGeom>
          <a:solidFill>
            <a:srgbClr val="B45309"/>
          </a:solidFill>
          <a:ln w="12700">
            <a:solidFill>
              <a:srgbClr val="B45309"/>
            </a:solidFill>
            <a:prstDash val="solid"/>
          </a:ln>
        </p:spPr>
      </p:sp>
      <p:sp>
        <p:nvSpPr>
          <p:cNvPr id="14" name="Text 12"/>
          <p:cNvSpPr/>
          <p:nvPr/>
        </p:nvSpPr>
        <p:spPr>
          <a:xfrm>
            <a:off x="6355080" y="1856232"/>
            <a:ext cx="5166360" cy="213969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Neden önemli</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Kalan vade poliçeden poliçeye farklıdır; ortalama, iskontoyu, CSM aktarımını ve zarar testini kaydırır (bkz. Canlı örnekler).</a:t>
            </a:r>
            <a:endParaRPr lang="en-US" sz="1100" dirty="0"/>
          </a:p>
        </p:txBody>
      </p:sp>
      <p:sp>
        <p:nvSpPr>
          <p:cNvPr id="15" name="Shape 13"/>
          <p:cNvSpPr/>
          <p:nvPr/>
        </p:nvSpPr>
        <p:spPr>
          <a:xfrm>
            <a:off x="548640" y="4206240"/>
            <a:ext cx="3566160" cy="2057400"/>
          </a:xfrm>
          <a:prstGeom prst="rect">
            <a:avLst/>
          </a:prstGeom>
          <a:solidFill>
            <a:srgbClr val="F4F6FA"/>
          </a:solidFill>
          <a:ln w="9525">
            <a:solidFill>
              <a:srgbClr val="D5DAE4"/>
            </a:solidFill>
            <a:prstDash val="solid"/>
          </a:ln>
        </p:spPr>
      </p:sp>
      <p:sp>
        <p:nvSpPr>
          <p:cNvPr id="16" name="Shape 14"/>
          <p:cNvSpPr/>
          <p:nvPr/>
        </p:nvSpPr>
        <p:spPr>
          <a:xfrm>
            <a:off x="548640" y="4206240"/>
            <a:ext cx="64008" cy="2057400"/>
          </a:xfrm>
          <a:prstGeom prst="rect">
            <a:avLst/>
          </a:prstGeom>
          <a:solidFill>
            <a:srgbClr val="0F766E"/>
          </a:solidFill>
          <a:ln w="12700">
            <a:solidFill>
              <a:srgbClr val="0F766E"/>
            </a:solidFill>
            <a:prstDash val="solid"/>
          </a:ln>
        </p:spPr>
      </p:sp>
      <p:sp>
        <p:nvSpPr>
          <p:cNvPr id="17" name="Text 15"/>
          <p:cNvSpPr/>
          <p:nvPr/>
        </p:nvSpPr>
        <p:spPr>
          <a:xfrm>
            <a:off x="73152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Geçici önlem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Ortalama süre ve başlangıç varsayımlarını belgele; duyarlılık (±) göster.</a:t>
            </a:r>
            <a:endParaRPr lang="en-US" sz="1100" dirty="0"/>
          </a:p>
        </p:txBody>
      </p:sp>
      <p:sp>
        <p:nvSpPr>
          <p:cNvPr id="18" name="Shape 16"/>
          <p:cNvSpPr/>
          <p:nvPr/>
        </p:nvSpPr>
        <p:spPr>
          <a:xfrm>
            <a:off x="4251960" y="4206240"/>
            <a:ext cx="3566160" cy="2057400"/>
          </a:xfrm>
          <a:prstGeom prst="rect">
            <a:avLst/>
          </a:prstGeom>
          <a:solidFill>
            <a:srgbClr val="F4F6FA"/>
          </a:solidFill>
          <a:ln w="9525">
            <a:solidFill>
              <a:srgbClr val="D5DAE4"/>
            </a:solidFill>
            <a:prstDash val="solid"/>
          </a:ln>
        </p:spPr>
      </p:sp>
      <p:sp>
        <p:nvSpPr>
          <p:cNvPr id="19" name="Shape 17"/>
          <p:cNvSpPr/>
          <p:nvPr/>
        </p:nvSpPr>
        <p:spPr>
          <a:xfrm>
            <a:off x="4251960" y="4206240"/>
            <a:ext cx="64008" cy="2057400"/>
          </a:xfrm>
          <a:prstGeom prst="rect">
            <a:avLst/>
          </a:prstGeom>
          <a:solidFill>
            <a:srgbClr val="0F766E"/>
          </a:solidFill>
          <a:ln w="12700">
            <a:solidFill>
              <a:srgbClr val="0F766E"/>
            </a:solidFill>
            <a:prstDash val="solid"/>
          </a:ln>
        </p:spPr>
      </p:sp>
      <p:sp>
        <p:nvSpPr>
          <p:cNvPr id="20" name="Text 18"/>
          <p:cNvSpPr/>
          <p:nvPr/>
        </p:nvSpPr>
        <p:spPr>
          <a:xfrm>
            <a:off x="4434840" y="4279392"/>
            <a:ext cx="3291840" cy="191109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Kalıcı çözüm</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Poliçe başlangıç ve bitiş tarihleriyle poliçe bazlı projeksiyon.</a:t>
            </a:r>
            <a:endParaRPr lang="en-US" sz="1100" dirty="0"/>
          </a:p>
        </p:txBody>
      </p:sp>
      <p:sp>
        <p:nvSpPr>
          <p:cNvPr id="21" name="Shape 19"/>
          <p:cNvSpPr/>
          <p:nvPr/>
        </p:nvSpPr>
        <p:spPr>
          <a:xfrm>
            <a:off x="7955280" y="4206240"/>
            <a:ext cx="3657600" cy="2057400"/>
          </a:xfrm>
          <a:prstGeom prst="rect">
            <a:avLst/>
          </a:prstGeom>
          <a:solidFill>
            <a:srgbClr val="F4F6FA"/>
          </a:solidFill>
          <a:ln w="9525">
            <a:solidFill>
              <a:srgbClr val="D5DAE4"/>
            </a:solidFill>
            <a:prstDash val="solid"/>
          </a:ln>
        </p:spPr>
      </p:sp>
      <p:sp>
        <p:nvSpPr>
          <p:cNvPr id="22" name="Shape 20"/>
          <p:cNvSpPr/>
          <p:nvPr/>
        </p:nvSpPr>
        <p:spPr>
          <a:xfrm>
            <a:off x="7955280" y="4206240"/>
            <a:ext cx="64008" cy="2057400"/>
          </a:xfrm>
          <a:prstGeom prst="rect">
            <a:avLst/>
          </a:prstGeom>
          <a:solidFill>
            <a:srgbClr val="14213D"/>
          </a:solidFill>
          <a:ln w="12700">
            <a:solidFill>
              <a:srgbClr val="14213D"/>
            </a:solidFill>
            <a:prstDash val="solid"/>
          </a:ln>
        </p:spPr>
      </p:sp>
      <p:sp>
        <p:nvSpPr>
          <p:cNvPr id="23" name="Text 21"/>
          <p:cNvSpPr/>
          <p:nvPr/>
        </p:nvSpPr>
        <p:spPr>
          <a:xfrm>
            <a:off x="8138160" y="4279392"/>
            <a:ext cx="3383280" cy="191109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Nasıl doğrulanır</a:t>
            </a:r>
            <a:endParaRPr lang="en-US" sz="1100" dirty="0"/>
          </a:p>
          <a:p>
            <a:pPr indent="0" marL="0">
              <a:buNone/>
            </a:pPr>
            <a:r>
              <a:rPr lang="en-US" sz="1200" dirty="0">
                <a:solidFill>
                  <a:srgbClr val="1F2937"/>
                </a:solidFill>
                <a:latin typeface="Calibri" pitchFamily="34" charset="0"/>
                <a:ea typeface="Calibri" pitchFamily="34" charset="-122"/>
                <a:cs typeface="Calibri" pitchFamily="34" charset="-120"/>
              </a:rPr>
              <a:t>3 ve 5 yıllık iki poliçeyle referans hesap; PV, CSM ve LRC farkı.</a:t>
            </a:r>
            <a:endParaRPr lang="en-US" sz="1100" dirty="0"/>
          </a:p>
        </p:txBody>
      </p:sp>
      <p:sp>
        <p:nvSpPr>
          <p:cNvPr id="24" name="Text 22">
            <a:hlinkClick r:id="rId2" tooltip="" action="ppaction://hlinksldjump"/>
          </p:cNvPr>
          <p:cNvSpPr/>
          <p:nvPr/>
        </p:nvSpPr>
        <p:spPr>
          <a:xfrm>
            <a:off x="8229600" y="274320"/>
            <a:ext cx="3383280" cy="274320"/>
          </a:xfrm>
          <a:prstGeom prst="rect">
            <a:avLst/>
          </a:prstGeom>
          <a:noFill/>
          <a:ln/>
        </p:spPr>
        <p:txBody>
          <a:bodyPr wrap="square" lIns="0" tIns="0" rIns="0" bIns="0" rtlCol="0" anchor="ctr"/>
          <a:lstStyle/>
          <a:p>
            <a:pPr algn="r" indent="0" marL="0">
              <a:buNone/>
            </a:pPr>
            <a:r>
              <a:rPr lang="en-US" sz="1000" u="sng" dirty="0">
                <a:solidFill>
                  <a:srgbClr val="0F766E"/>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Süreçte: adım 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CANLI ÖRNEK (KURGUSAL VERI)</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3 ve 5 yıllık iki poliçe: ortalama vade neyi değiştirir?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Her poliçe yılda 100 nakit akışı üretiyor; iskonto oranı %25.</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18</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9" name="Chart 0" descr=""/>
          <p:cNvGraphicFramePr/>
          <p:nvPr/>
        </p:nvGraphicFramePr>
        <p:xfrm>
          <a:off x="548640" y="1828800"/>
          <a:ext cx="6766560" cy="4206240"/>
        </p:xfrm>
        <a:graphic xmlns:a="http://schemas.openxmlformats.org/drawingml/2006/main">
          <a:graphicData uri="http://schemas.openxmlformats.org/drawingml/2006/chart">
            <c:chart xmlns:c="http://schemas.openxmlformats.org/drawingml/2006/chart" r:id="rId2"/>
          </a:graphicData>
        </a:graphic>
      </p:graphicFrame>
      <p:sp>
        <p:nvSpPr>
          <p:cNvPr id="10" name="Shape 7"/>
          <p:cNvSpPr/>
          <p:nvPr/>
        </p:nvSpPr>
        <p:spPr>
          <a:xfrm>
            <a:off x="7589520" y="1828800"/>
            <a:ext cx="4023360" cy="713232"/>
          </a:xfrm>
          <a:prstGeom prst="rect">
            <a:avLst/>
          </a:prstGeom>
          <a:solidFill>
            <a:srgbClr val="F4F6FA"/>
          </a:solidFill>
          <a:ln w="6350">
            <a:solidFill>
              <a:srgbClr val="D5DAE4"/>
            </a:solidFill>
            <a:prstDash val="solid"/>
          </a:ln>
        </p:spPr>
      </p:sp>
      <p:sp>
        <p:nvSpPr>
          <p:cNvPr id="11" name="Text 8"/>
          <p:cNvSpPr/>
          <p:nvPr/>
        </p:nvSpPr>
        <p:spPr>
          <a:xfrm>
            <a:off x="7680960" y="1856232"/>
            <a:ext cx="3840480" cy="658368"/>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Ortalama vade</a:t>
            </a:r>
            <a:endParaRPr lang="en-US" sz="1000" dirty="0"/>
          </a:p>
          <a:p>
            <a:pPr indent="0" marL="0">
              <a:buNone/>
            </a:pPr>
            <a:r>
              <a:rPr lang="en-US" sz="1600" b="1" dirty="0">
                <a:solidFill>
                  <a:srgbClr val="14213D"/>
                </a:solidFill>
                <a:latin typeface="Calibri" pitchFamily="34" charset="0"/>
                <a:ea typeface="Calibri" pitchFamily="34" charset="-122"/>
                <a:cs typeface="Calibri" pitchFamily="34" charset="-120"/>
              </a:rPr>
              <a:t>4 yıl</a:t>
            </a:r>
            <a:endParaRPr lang="en-US" sz="1000" dirty="0"/>
          </a:p>
        </p:txBody>
      </p:sp>
      <p:sp>
        <p:nvSpPr>
          <p:cNvPr id="12" name="Shape 9"/>
          <p:cNvSpPr/>
          <p:nvPr/>
        </p:nvSpPr>
        <p:spPr>
          <a:xfrm>
            <a:off x="7589520" y="2633472"/>
            <a:ext cx="4023360" cy="713232"/>
          </a:xfrm>
          <a:prstGeom prst="rect">
            <a:avLst/>
          </a:prstGeom>
          <a:solidFill>
            <a:srgbClr val="F4F6FA"/>
          </a:solidFill>
          <a:ln w="6350">
            <a:solidFill>
              <a:srgbClr val="D5DAE4"/>
            </a:solidFill>
            <a:prstDash val="solid"/>
          </a:ln>
        </p:spPr>
      </p:sp>
      <p:sp>
        <p:nvSpPr>
          <p:cNvPr id="13" name="Text 10"/>
          <p:cNvSpPr/>
          <p:nvPr/>
        </p:nvSpPr>
        <p:spPr>
          <a:xfrm>
            <a:off x="7680960" y="2660904"/>
            <a:ext cx="3840480" cy="658368"/>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İskontosuz toplam</a:t>
            </a:r>
            <a:endParaRPr lang="en-US" sz="1000" dirty="0"/>
          </a:p>
          <a:p>
            <a:pPr indent="0" marL="0">
              <a:buNone/>
            </a:pPr>
            <a:r>
              <a:rPr lang="en-US" sz="1600" b="1" dirty="0">
                <a:solidFill>
                  <a:srgbClr val="14213D"/>
                </a:solidFill>
                <a:latin typeface="Calibri" pitchFamily="34" charset="0"/>
                <a:ea typeface="Calibri" pitchFamily="34" charset="-122"/>
                <a:cs typeface="Calibri" pitchFamily="34" charset="-120"/>
              </a:rPr>
              <a:t>800 (iki yaklaşımda aynı)</a:t>
            </a:r>
            <a:endParaRPr lang="en-US" sz="1000" dirty="0"/>
          </a:p>
        </p:txBody>
      </p:sp>
      <p:sp>
        <p:nvSpPr>
          <p:cNvPr id="14" name="Shape 11"/>
          <p:cNvSpPr/>
          <p:nvPr/>
        </p:nvSpPr>
        <p:spPr>
          <a:xfrm>
            <a:off x="7589520" y="3438144"/>
            <a:ext cx="4023360" cy="713232"/>
          </a:xfrm>
          <a:prstGeom prst="rect">
            <a:avLst/>
          </a:prstGeom>
          <a:solidFill>
            <a:srgbClr val="F4F6FA"/>
          </a:solidFill>
          <a:ln w="6350">
            <a:solidFill>
              <a:srgbClr val="D5DAE4"/>
            </a:solidFill>
            <a:prstDash val="solid"/>
          </a:ln>
        </p:spPr>
      </p:sp>
      <p:sp>
        <p:nvSpPr>
          <p:cNvPr id="15" name="Text 12"/>
          <p:cNvSpPr/>
          <p:nvPr/>
        </p:nvSpPr>
        <p:spPr>
          <a:xfrm>
            <a:off x="7680960" y="3465576"/>
            <a:ext cx="3840480" cy="658368"/>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PV, poliçe bazlı</a:t>
            </a:r>
            <a:endParaRPr lang="en-US" sz="1000" dirty="0"/>
          </a:p>
          <a:p>
            <a:pPr indent="0" marL="0">
              <a:buNone/>
            </a:pPr>
            <a:r>
              <a:rPr lang="en-US" sz="1600" b="1" dirty="0">
                <a:solidFill>
                  <a:srgbClr val="14213D"/>
                </a:solidFill>
                <a:latin typeface="Calibri" pitchFamily="34" charset="0"/>
                <a:ea typeface="Calibri" pitchFamily="34" charset="-122"/>
                <a:cs typeface="Calibri" pitchFamily="34" charset="-120"/>
              </a:rPr>
              <a:t>464,1</a:t>
            </a:r>
            <a:endParaRPr lang="en-US" sz="1000" dirty="0"/>
          </a:p>
        </p:txBody>
      </p:sp>
      <p:sp>
        <p:nvSpPr>
          <p:cNvPr id="16" name="Shape 13"/>
          <p:cNvSpPr/>
          <p:nvPr/>
        </p:nvSpPr>
        <p:spPr>
          <a:xfrm>
            <a:off x="7589520" y="4242816"/>
            <a:ext cx="4023360" cy="713232"/>
          </a:xfrm>
          <a:prstGeom prst="rect">
            <a:avLst/>
          </a:prstGeom>
          <a:solidFill>
            <a:srgbClr val="F4F6FA"/>
          </a:solidFill>
          <a:ln w="6350">
            <a:solidFill>
              <a:srgbClr val="D5DAE4"/>
            </a:solidFill>
            <a:prstDash val="solid"/>
          </a:ln>
        </p:spPr>
      </p:sp>
      <p:sp>
        <p:nvSpPr>
          <p:cNvPr id="17" name="Text 14"/>
          <p:cNvSpPr/>
          <p:nvPr/>
        </p:nvSpPr>
        <p:spPr>
          <a:xfrm>
            <a:off x="7680960" y="4270248"/>
            <a:ext cx="3840480" cy="658368"/>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PV, ortalama</a:t>
            </a:r>
            <a:endParaRPr lang="en-US" sz="1000" dirty="0"/>
          </a:p>
          <a:p>
            <a:pPr indent="0" marL="0">
              <a:buNone/>
            </a:pPr>
            <a:r>
              <a:rPr lang="en-US" sz="1600" b="1" dirty="0">
                <a:solidFill>
                  <a:srgbClr val="14213D"/>
                </a:solidFill>
                <a:latin typeface="Calibri" pitchFamily="34" charset="0"/>
                <a:ea typeface="Calibri" pitchFamily="34" charset="-122"/>
                <a:cs typeface="Calibri" pitchFamily="34" charset="-120"/>
              </a:rPr>
              <a:t>472,3</a:t>
            </a:r>
            <a:endParaRPr lang="en-US" sz="1000" dirty="0"/>
          </a:p>
        </p:txBody>
      </p:sp>
      <p:sp>
        <p:nvSpPr>
          <p:cNvPr id="18" name="Shape 15"/>
          <p:cNvSpPr/>
          <p:nvPr/>
        </p:nvSpPr>
        <p:spPr>
          <a:xfrm>
            <a:off x="7589520" y="5047488"/>
            <a:ext cx="4023360" cy="713232"/>
          </a:xfrm>
          <a:prstGeom prst="rect">
            <a:avLst/>
          </a:prstGeom>
          <a:solidFill>
            <a:srgbClr val="DDEFEC"/>
          </a:solidFill>
          <a:ln w="6350">
            <a:solidFill>
              <a:srgbClr val="D5DAE4"/>
            </a:solidFill>
            <a:prstDash val="solid"/>
          </a:ln>
        </p:spPr>
      </p:sp>
      <p:sp>
        <p:nvSpPr>
          <p:cNvPr id="19" name="Text 16"/>
          <p:cNvSpPr/>
          <p:nvPr/>
        </p:nvSpPr>
        <p:spPr>
          <a:xfrm>
            <a:off x="7680960" y="5074920"/>
            <a:ext cx="3840480" cy="658368"/>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Fark (ortalama − poliçe)</a:t>
            </a:r>
            <a:endParaRPr lang="en-US" sz="1000" dirty="0"/>
          </a:p>
          <a:p>
            <a:pPr indent="0" marL="0">
              <a:buNone/>
            </a:pPr>
            <a:r>
              <a:rPr lang="en-US" sz="1600" b="1" dirty="0">
                <a:solidFill>
                  <a:srgbClr val="14213D"/>
                </a:solidFill>
                <a:latin typeface="Calibri" pitchFamily="34" charset="0"/>
                <a:ea typeface="Calibri" pitchFamily="34" charset="-122"/>
                <a:cs typeface="Calibri" pitchFamily="34" charset="-120"/>
              </a:rPr>
              <a:t>+8,2 (%1,8)</a:t>
            </a:r>
            <a:endParaRPr lang="en-US" sz="1000" dirty="0"/>
          </a:p>
        </p:txBody>
      </p:sp>
      <p:sp>
        <p:nvSpPr>
          <p:cNvPr id="20" name="Text 17"/>
          <p:cNvSpPr/>
          <p:nvPr/>
        </p:nvSpPr>
        <p:spPr>
          <a:xfrm>
            <a:off x="548640" y="5989320"/>
            <a:ext cx="11064240" cy="457200"/>
          </a:xfrm>
          <a:prstGeom prst="rect">
            <a:avLst/>
          </a:prstGeom>
          <a:noFill/>
          <a:ln/>
        </p:spPr>
        <p:txBody>
          <a:bodyPr wrap="square" lIns="0" tIns="0" rIns="0" bIns="0" rtlCol="0" anchor="t"/>
          <a:lstStyle/>
          <a:p>
            <a:pPr indent="0" marL="0">
              <a:buNone/>
            </a:pPr>
            <a:r>
              <a:rPr lang="en-US" sz="1100" i="1" dirty="0">
                <a:solidFill>
                  <a:srgbClr val="5B6475"/>
                </a:solidFill>
                <a:latin typeface="Calibri" pitchFamily="34" charset="0"/>
                <a:ea typeface="Calibri" pitchFamily="34" charset="-122"/>
                <a:cs typeface="Calibri" pitchFamily="34" charset="-120"/>
              </a:rPr>
              <a:t>Ortalama, toplam akışı 4 yıla eşit yayar; poliçe bazlı akışta ilk 3 yıl iki poliçe birlikte öder, sonra yalnızca 5 yıllık poliçe öder. İskonto oranı değiştikçe fark değişir.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CANLI ÖRNEK (KURGUSAL VERI)</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Şubat'ta başlayan poliçe, yıl başına basılan incurred tarihi</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Hasar 1 Ocak olarak damgalanınca poliçe başlangıcından önce görünür.</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19</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9" name="Chart 0" descr=""/>
          <p:cNvGraphicFramePr/>
          <p:nvPr/>
        </p:nvGraphicFramePr>
        <p:xfrm>
          <a:off x="548640" y="1828800"/>
          <a:ext cx="6949440" cy="3840480"/>
        </p:xfrm>
        <a:graphic xmlns:a="http://schemas.openxmlformats.org/drawingml/2006/main">
          <a:graphicData uri="http://schemas.openxmlformats.org/drawingml/2006/chart">
            <c:chart xmlns:c="http://schemas.openxmlformats.org/drawingml/2006/chart" r:id="rId2"/>
          </a:graphicData>
        </a:graphic>
      </p:graphicFrame>
      <p:sp>
        <p:nvSpPr>
          <p:cNvPr id="10" name="Shape 7"/>
          <p:cNvSpPr/>
          <p:nvPr/>
        </p:nvSpPr>
        <p:spPr>
          <a:xfrm>
            <a:off x="7772400" y="1828800"/>
            <a:ext cx="3840480" cy="1234440"/>
          </a:xfrm>
          <a:prstGeom prst="rect">
            <a:avLst/>
          </a:prstGeom>
          <a:solidFill>
            <a:srgbClr val="F4F6FA"/>
          </a:solidFill>
          <a:ln w="9525">
            <a:solidFill>
              <a:srgbClr val="D5DAE4"/>
            </a:solidFill>
            <a:prstDash val="solid"/>
          </a:ln>
        </p:spPr>
      </p:sp>
      <p:sp>
        <p:nvSpPr>
          <p:cNvPr id="11" name="Shape 8"/>
          <p:cNvSpPr/>
          <p:nvPr/>
        </p:nvSpPr>
        <p:spPr>
          <a:xfrm>
            <a:off x="7772400" y="1828800"/>
            <a:ext cx="64008" cy="1234440"/>
          </a:xfrm>
          <a:prstGeom prst="rect">
            <a:avLst/>
          </a:prstGeom>
          <a:solidFill>
            <a:srgbClr val="B42318"/>
          </a:solidFill>
          <a:ln w="12700">
            <a:solidFill>
              <a:srgbClr val="B42318"/>
            </a:solidFill>
            <a:prstDash val="solid"/>
          </a:ln>
        </p:spPr>
      </p:sp>
      <p:sp>
        <p:nvSpPr>
          <p:cNvPr id="12" name="Text 9"/>
          <p:cNvSpPr/>
          <p:nvPr/>
        </p:nvSpPr>
        <p:spPr>
          <a:xfrm>
            <a:off x="7955280" y="1901952"/>
            <a:ext cx="3566160" cy="1088136"/>
          </a:xfrm>
          <a:prstGeom prst="rect">
            <a:avLst/>
          </a:prstGeom>
          <a:noFill/>
          <a:ln/>
        </p:spPr>
        <p:txBody>
          <a:bodyPr wrap="square" lIns="0" tIns="0" rIns="0" bIns="0" rtlCol="0" anchor="t"/>
          <a:lstStyle/>
          <a:p>
            <a:pPr indent="0" marL="0">
              <a:buNone/>
            </a:pPr>
            <a:r>
              <a:rPr lang="en-US" sz="1100" b="1" dirty="0">
                <a:solidFill>
                  <a:srgbClr val="B42318"/>
                </a:solidFill>
                <a:latin typeface="Calibri" pitchFamily="34" charset="0"/>
                <a:ea typeface="Calibri" pitchFamily="34" charset="-122"/>
                <a:cs typeface="Calibri" pitchFamily="34" charset="-120"/>
              </a:rPr>
              <a:t>Hata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Incurred 1 Ocak, poliçe başlangıcı 1 Şubat: kayıt içeri alınamaz, tarihte mantıksal indeks hatası oluşur.</a:t>
            </a:r>
            <a:endParaRPr lang="en-US" sz="1100" dirty="0"/>
          </a:p>
        </p:txBody>
      </p:sp>
      <p:sp>
        <p:nvSpPr>
          <p:cNvPr id="13" name="Shape 10"/>
          <p:cNvSpPr/>
          <p:nvPr/>
        </p:nvSpPr>
        <p:spPr>
          <a:xfrm>
            <a:off x="7772400" y="3200400"/>
            <a:ext cx="3840480" cy="1554480"/>
          </a:xfrm>
          <a:prstGeom prst="rect">
            <a:avLst/>
          </a:prstGeom>
          <a:solidFill>
            <a:srgbClr val="F4F6FA"/>
          </a:solidFill>
          <a:ln w="9525">
            <a:solidFill>
              <a:srgbClr val="D5DAE4"/>
            </a:solidFill>
            <a:prstDash val="solid"/>
          </a:ln>
        </p:spPr>
      </p:sp>
      <p:sp>
        <p:nvSpPr>
          <p:cNvPr id="14" name="Shape 11"/>
          <p:cNvSpPr/>
          <p:nvPr/>
        </p:nvSpPr>
        <p:spPr>
          <a:xfrm>
            <a:off x="7772400" y="3200400"/>
            <a:ext cx="64008" cy="1554480"/>
          </a:xfrm>
          <a:prstGeom prst="rect">
            <a:avLst/>
          </a:prstGeom>
          <a:solidFill>
            <a:srgbClr val="B45309"/>
          </a:solidFill>
          <a:ln w="12700">
            <a:solidFill>
              <a:srgbClr val="B45309"/>
            </a:solidFill>
            <a:prstDash val="solid"/>
          </a:ln>
        </p:spPr>
      </p:sp>
      <p:sp>
        <p:nvSpPr>
          <p:cNvPr id="15" name="Text 12"/>
          <p:cNvSpPr/>
          <p:nvPr/>
        </p:nvSpPr>
        <p:spPr>
          <a:xfrm>
            <a:off x="7955280" y="3273552"/>
            <a:ext cx="3566160" cy="1408176"/>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Elle 1 Ocak'a çekilince</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Hata kaybolur ama kaynak veri değişir. 12 aylık poliçede yıl sonuna kadar kazanılmış prim %91,7 olması gerekirken %100 görünür; yıllık primin %8,3'ü fazla.</a:t>
            </a:r>
            <a:endParaRPr lang="en-US" sz="1100" dirty="0"/>
          </a:p>
        </p:txBody>
      </p:sp>
      <p:sp>
        <p:nvSpPr>
          <p:cNvPr id="16" name="Shape 13"/>
          <p:cNvSpPr/>
          <p:nvPr/>
        </p:nvSpPr>
        <p:spPr>
          <a:xfrm>
            <a:off x="7772400" y="4892040"/>
            <a:ext cx="3840480" cy="1188720"/>
          </a:xfrm>
          <a:prstGeom prst="rect">
            <a:avLst/>
          </a:prstGeom>
          <a:solidFill>
            <a:srgbClr val="F4F6FA"/>
          </a:solidFill>
          <a:ln w="9525">
            <a:solidFill>
              <a:srgbClr val="D5DAE4"/>
            </a:solidFill>
            <a:prstDash val="solid"/>
          </a:ln>
        </p:spPr>
      </p:sp>
      <p:sp>
        <p:nvSpPr>
          <p:cNvPr id="17" name="Shape 14"/>
          <p:cNvSpPr/>
          <p:nvPr/>
        </p:nvSpPr>
        <p:spPr>
          <a:xfrm>
            <a:off x="7772400" y="4892040"/>
            <a:ext cx="64008" cy="1188720"/>
          </a:xfrm>
          <a:prstGeom prst="rect">
            <a:avLst/>
          </a:prstGeom>
          <a:solidFill>
            <a:srgbClr val="15803D"/>
          </a:solidFill>
          <a:ln w="12700">
            <a:solidFill>
              <a:srgbClr val="15803D"/>
            </a:solidFill>
            <a:prstDash val="solid"/>
          </a:ln>
        </p:spPr>
      </p:sp>
      <p:sp>
        <p:nvSpPr>
          <p:cNvPr id="18" name="Text 15"/>
          <p:cNvSpPr/>
          <p:nvPr/>
        </p:nvSpPr>
        <p:spPr>
          <a:xfrm>
            <a:off x="7955280" y="4965192"/>
            <a:ext cx="3566160" cy="1042416"/>
          </a:xfrm>
          <a:prstGeom prst="rect">
            <a:avLst/>
          </a:prstGeom>
          <a:noFill/>
          <a:ln/>
        </p:spPr>
        <p:txBody>
          <a:bodyPr wrap="square" lIns="0" tIns="0" rIns="0" bIns="0" rtlCol="0" anchor="t"/>
          <a:lstStyle/>
          <a:p>
            <a:pPr indent="0" marL="0">
              <a:buNone/>
            </a:pPr>
            <a:r>
              <a:rPr lang="en-US" sz="1100" b="1" dirty="0">
                <a:solidFill>
                  <a:srgbClr val="15803D"/>
                </a:solidFill>
                <a:latin typeface="Calibri" pitchFamily="34" charset="0"/>
                <a:ea typeface="Calibri" pitchFamily="34" charset="-122"/>
                <a:cs typeface="Calibri" pitchFamily="34" charset="-120"/>
              </a:rPr>
              <a:t>Ocak başlangıçlı poliçe</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Sorun görünmez; asıl risk diğer aylarda başlayan UoA'lar.</a:t>
            </a:r>
            <a:endParaRPr lang="en-US" sz="1100" dirty="0"/>
          </a:p>
        </p:txBody>
      </p:sp>
      <p:sp>
        <p:nvSpPr>
          <p:cNvPr id="19" name="Text 16"/>
          <p:cNvSpPr/>
          <p:nvPr/>
        </p:nvSpPr>
        <p:spPr>
          <a:xfrm>
            <a:off x="548640" y="5760720"/>
            <a:ext cx="11064240" cy="457200"/>
          </a:xfrm>
          <a:prstGeom prst="rect">
            <a:avLst/>
          </a:prstGeom>
          <a:noFill/>
          <a:ln/>
        </p:spPr>
        <p:txBody>
          <a:bodyPr wrap="square" lIns="0" tIns="0" rIns="0" bIns="0" rtlCol="0" anchor="t"/>
          <a:lstStyle/>
          <a:p>
            <a:pPr indent="0" marL="0">
              <a:buNone/>
            </a:pPr>
            <a:r>
              <a:rPr lang="en-US" sz="1100" i="1" dirty="0">
                <a:solidFill>
                  <a:srgbClr val="5B6475"/>
                </a:solidFill>
                <a:latin typeface="Calibri" pitchFamily="34" charset="0"/>
                <a:ea typeface="Calibri" pitchFamily="34" charset="-122"/>
                <a:cs typeface="Calibri" pitchFamily="34" charset="-120"/>
              </a:rPr>
              <a:t>Gerçek örüntü yalnızca örnek amaçlıdır.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HAZIRLIK</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Denetçinin soracağı sorular ve hazırlık durumu</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PyCaT bugün neyi karşılayabiliyor?</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20</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3108960"/>
                <a:gridCol w="1280160"/>
                <a:gridCol w="2743200"/>
                <a:gridCol w="3291840"/>
                <a:gridCol w="6675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Soru</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PyCaT bugün</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Neden sorulur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Hazırlık aksiyonu</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Bulgu</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Nakit akışında dönemler arası bir değişiklik oldu mu, fark var mı?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Hazırlanacak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Denetimden gelen açık e-postanın konusu.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Dönemler arası değişiklik kaydı (model, varsayım, veri) ve fark analizi hazırla.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Nakit akışı poliçe ve hasar düzeyinde izlenebiliyor mu?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Sınırlı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Ölçüm grup düzeyindedir ama gruplamanın doğru yapıldığını poliçe düzeyi kanıtlar.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Poliçe bazlı projeksiyon ve gruba toplama izi.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P7</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Hasar zamanlaması (incurred ve ödeme) nasıl türetiliyor?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Sınırlı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İskonto ve gerçekleşen-beklenen analizi bu veriye bağlıdır.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Aylık incurred veri ve ödeme paterni.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P1</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Gelir ve rezerv çözme mantığı beklenen teminatla uyumlu mu?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B42318"/>
                          </a:solidFill>
                          <a:latin typeface="Calibri" pitchFamily="34" charset="0"/>
                          <a:ea typeface="Calibri" pitchFamily="34" charset="-122"/>
                          <a:cs typeface="Calibri" pitchFamily="34" charset="-120"/>
                        </a:rPr>
                        <a:t>Sorunlu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Standart, hizmet sunuldukça tanımayı ister; denetçi mantığı test eder.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Spesifikasyonu yeniden yaz, test vakalarını belgele.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P5, P6</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Başlangıç (initial) nakit akışı nasıl hesaplanıyor?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B42318"/>
                          </a:solidFill>
                          <a:latin typeface="Calibri" pitchFamily="34" charset="0"/>
                          <a:ea typeface="Calibri" pitchFamily="34" charset="-122"/>
                          <a:cs typeface="Calibri" pitchFamily="34" charset="-120"/>
                        </a:rPr>
                        <a:t>Sorunlu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Açılış bakiyelerinin dayanağıdır; ortalama süre varsayımı sorgulanır.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Poliçe başlangıç ve bitiş tarihleriyle hesap.</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P7</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Manuel müdahaleler kayıt altında mı?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B42318"/>
                          </a:solidFill>
                          <a:latin typeface="Calibri" pitchFamily="34" charset="0"/>
                          <a:ea typeface="Calibri" pitchFamily="34" charset="-122"/>
                          <a:cs typeface="Calibri" pitchFamily="34" charset="-120"/>
                        </a:rPr>
                        <a:t>Zayıf</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Denetlenebilirlik ve operasyonel risk.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Müdahale kaydı ve ikinci göz kontrolü.</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Run, yükleme ve muhasebe arasındaki mutabakat nasıl sağlanıyor?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Kısmen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Kapanış doğruluğunun temel kanıtı.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Otomatik kontrol toplamları ve mutabakat raporu.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Varsayımları kim, hangi gerekçeyle değiştiriyor ve nerede kayıtlı?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5B6475"/>
                          </a:solidFill>
                          <a:latin typeface="Calibri" pitchFamily="34" charset="0"/>
                          <a:ea typeface="Calibri" pitchFamily="34" charset="-122"/>
                          <a:cs typeface="Calibri" pitchFamily="34" charset="-120"/>
                        </a:rPr>
                        <a:t>Doğrulanacak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Denetçi varsayım yönetişimini sorar.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Varsayım envanteri; sahip, gerekçe ve onay kaydı.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HAZIRLIK</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Eğitim ve kadro planı</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21</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023360"/>
                <a:gridCol w="1737360"/>
                <a:gridCol w="53035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Başlık</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Durum</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a:t>
                      </a:r>
                      <a:endParaRPr lang="en-US" sz="12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IFRS 17 eğitimleri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Başladı, planlandı</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Eğitim planı oluşturuldu.</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Kadro ve pozisyonlar</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Açıldı</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FT tanımlandı. Aktüerya, muhasebe, bütçe ve risk kontrol birimlerine 5 kişi alındı; alım sürecek. [birim dağılımı doğrulanacak]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IFRS 17 çalışması için +1 TSEV eğitimi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Açıldı</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[kapsamı doğrulanacak]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Danışman Elçin: teknik ve raporlama eğitimi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Alınacak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Teknik eğitim ile salt raporlama ve yorumlama eğitimi.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Head Office IFRS 17 online eğitimi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Tanımlandı</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Herkes tamamlayacak.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Linktera SAS teknik eğitimi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Alınacak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SAS çalıştırması ve çıktıları için.</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Head Office poliçe bazlı araç (GPM) eğitimi</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Talep edilecek</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Değerlendirme ve tartışmalar başladı.</a:t>
                      </a:r>
                      <a:endParaRPr lang="en-US" sz="12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KARAR</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Araçlar: Prophet, RAFM, R3S, GPM</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Notlardaki bilgilerle; boş bırakılan yerler doğrulanacak.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22</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914400"/>
                <a:gridCol w="1737360"/>
                <a:gridCol w="1280160"/>
                <a:gridCol w="1554480"/>
                <a:gridCol w="2926080"/>
                <a:gridCol w="26517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Araç</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Satıcı</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Durum</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Kullananlar (notlardan)</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Notlar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Sonraki adım</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Prophet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FIS (Fidelity National Information Services)</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Görüşme planlanıyor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Notlarda kullanıcı şirket belirtilmedi.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Görüşme için hazırlık yapılıyor.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Görüşme tarihini netleştir; RAFM görüşmesindeki soru listesiyle aynı çerçevede karşılaştır.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RAFM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Willis Towers Watson (WTW)</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Toplantı yapıldı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Türkiye Katılım, Allianz, AXA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Sektörde yaygın kullanılan araç. WTW ile toplantıda aracın teknik yapısı ve implementasyonu hakkında bilgi alındı.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Görüşme notlarını soru listesine işle; demo ve teklif iste.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R3S</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Satıcı notlarda belirtilmedi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Araştırıldı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Anadolu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Sektör araştırmasında bir şirketin kullandığı araç olarak not edildi.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Satıcıyı ve kapsamı netleştir; gerekirse referans görüşmesi iste.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GPM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Head Office aracı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Değerlendirme başladı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Head Office</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Head Office poliçe bazlı bir araç kullanıyor. PyCaT ve GPM üzerine konuşuldu; değerlendirme ve tartışmalar başladı.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Head Office'ten demo, eğitim ve kullanım koşulları talep et.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KARAR</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Satıcı görüşmeleri için soru listesi</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Her görüşmede aynı çerçeve; yanıtlar karar matrisine işlenecek.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23</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sp>
        <p:nvSpPr>
          <p:cNvPr id="9" name="Text 7"/>
          <p:cNvSpPr/>
          <p:nvPr/>
        </p:nvSpPr>
        <p:spPr>
          <a:xfrm>
            <a:off x="548640" y="1828800"/>
            <a:ext cx="5394960" cy="4206240"/>
          </a:xfrm>
          <a:prstGeom prst="rect">
            <a:avLst/>
          </a:prstGeom>
          <a:noFill/>
          <a:ln/>
        </p:spPr>
        <p:txBody>
          <a:bodyPr wrap="square" lIns="0" tIns="0" rIns="0" bIns="0" rtlCol="0" anchor="t"/>
          <a:lstStyle/>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Poliçe veya model-point düzeyinde projeksiyon yapıyor mu?</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Incurred ve ödeme tarihlerini aylık işliyor mu?</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CSM, LRC, LIC ve roll-forward tablolarını üretiyor mu?</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Genel model ve PAA birlikte destekleniyor mu?</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Mevcut SAS ve Linktera akışıyla nasıl entegre olur?</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Excel veya Python arayüzü var mı; makro bağımlılığı olmadan çalışır mı?</a:t>
            </a:r>
            <a:endParaRPr lang="en-US" sz="1300" dirty="0"/>
          </a:p>
        </p:txBody>
      </p:sp>
      <p:sp>
        <p:nvSpPr>
          <p:cNvPr id="10" name="Text 8"/>
          <p:cNvSpPr/>
          <p:nvPr/>
        </p:nvSpPr>
        <p:spPr>
          <a:xfrm>
            <a:off x="6172200" y="1828800"/>
            <a:ext cx="5394960" cy="4206240"/>
          </a:xfrm>
          <a:prstGeom prst="rect">
            <a:avLst/>
          </a:prstGeom>
          <a:noFill/>
          <a:ln/>
        </p:spPr>
        <p:txBody>
          <a:bodyPr wrap="square" lIns="0" tIns="0" rIns="0" bIns="0" rtlCol="0" anchor="t"/>
          <a:lstStyle/>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Örnek portföyle ölçülen run süresi nedir? [satıcıdan]</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Denetim izi, sürüm kontrolü ve değişiklik kaydı nasıl tutuluyor?</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Lisans modeli ve toplam maliyet kalemleri nelerdir? [teklif]</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Uygulama süresi ve bizden beklenen kaynak nedir?</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Türkiye'de referans müşteriler ve yerel destek var mı?</a:t>
            </a:r>
            <a:endParaRPr lang="en-US" sz="1300" dirty="0"/>
          </a:p>
          <a:p>
            <a:pPr indent="0" marL="0">
              <a:spcAft>
                <a:spcPts val="800"/>
              </a:spcAft>
              <a:buNone/>
            </a:pPr>
            <a:r>
              <a:rPr lang="en-US" sz="1300" dirty="0">
                <a:solidFill>
                  <a:srgbClr val="1F2937"/>
                </a:solidFill>
                <a:latin typeface="Calibri" pitchFamily="34" charset="0"/>
                <a:ea typeface="Calibri" pitchFamily="34" charset="-122"/>
                <a:cs typeface="Calibri" pitchFamily="34" charset="-120"/>
              </a:rPr>
              <a:t>☐  Model mantığı şeffaf mı; eğitim ve dokümantasyon neleri kapsıyor?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KARAR</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Karar matrisi: dört seçenek, sekiz kriter</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Dengeli ağırlıklarla ön değerlendirme (1 kötü, 5 iyi). Puanlar satıcı yanıtları ve ölçümlerle güncellenecek.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24</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291840"/>
                <a:gridCol w="822960"/>
                <a:gridCol w="1737360"/>
                <a:gridCol w="1737360"/>
                <a:gridCol w="1737360"/>
                <a:gridCol w="17373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Kriter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Ağırlık</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PyCaT'i düzeltmek</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Ticari / Head Office aracı</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Açık kaynak Python motoru</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Hibrit: Excel + yeni motor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Doğruluk</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Poliçe bazlı kalan vade, aylık incurred</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Hız ve ölçek</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Run süresi, büyük portföy</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Denetlenebilirlik</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Poliçe düzeyinde iz, sürüm, değişiklik kaydı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Maliyet</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Yüksek puan = düşük toplam sahip olma maliyeti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Geçiş riski</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Yüksek puan = düşük risk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Ekip yetkinliği</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Mevcut bilgiyle sürdürülebilirlik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Satıcı bağımsızlığı</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Yüksek puan = düşük bağımlılık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Head Office uyumu</a:t>
                      </a:r>
                      <a:endParaRPr lang="en-US" sz="1100" dirty="0">
                        <a:latin typeface="Calibri" charset="0"/>
                        <a:ea typeface="Calibri" charset="0"/>
                        <a:cs typeface="Calibri" charset="0"/>
                      </a:endParaRPr>
                    </a:p>
                    <a:p>
                      <a:pPr indent="0" marL="0">
                        <a:buNone/>
                      </a:pPr>
                      <a:r>
                        <a:rPr lang="en-US" sz="1100" b="1" dirty="0">
                          <a:solidFill>
                            <a:srgbClr val="1F2937"/>
                          </a:solidFill>
                          <a:latin typeface="Calibri" pitchFamily="34" charset="0"/>
                          <a:ea typeface="Calibri" pitchFamily="34" charset="-122"/>
                          <a:cs typeface="Calibri" pitchFamily="34" charset="-120"/>
                        </a:rPr>
                        <a:t>Poliçe bazlı grup aracıyla uyum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Ağırlıklı puan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2,58</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3,69</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KARAR</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Ağırlık senaryolarına göre sıralama</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Aynı puanlar, farklı öncelikler (* = en yüksek puan).</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25</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377440"/>
                <a:gridCol w="1463040"/>
                <a:gridCol w="1645920"/>
                <a:gridCol w="1645920"/>
                <a:gridCol w="1645920"/>
                <a:gridCol w="22860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Senaryo</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PyCaT'i düzeltmek</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Ticari / Head Office aracı</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Açık kaynak Python motoru</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Hibrit: Excel + yeni motor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 yüksek</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Dengeli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2,58</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3,69 *</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3,08</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Ticari / Head Office aracı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Doğruluk ve denetim öncelikli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2,48</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3,95 *</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3,14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3,10</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Ticari / Head Office aracı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Yalnızca maliyet ve geçiş riski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3,18 *</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2,59</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2,94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3,06</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PyCaT'i düzeltmek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Head Office uyumu öncelikli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2,35</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3,70 *</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3,04</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2,91</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Ticari / Head Office aracı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bl>
          </a:graphicData>
        </a:graphic>
      </p:graphicFrame>
      <p:sp>
        <p:nvSpPr>
          <p:cNvPr id="10" name="Shape 7"/>
          <p:cNvSpPr/>
          <p:nvPr/>
        </p:nvSpPr>
        <p:spPr>
          <a:xfrm>
            <a:off x="548640" y="3840480"/>
            <a:ext cx="2651760" cy="2194560"/>
          </a:xfrm>
          <a:prstGeom prst="rect">
            <a:avLst/>
          </a:prstGeom>
          <a:solidFill>
            <a:srgbClr val="F4F6FA"/>
          </a:solidFill>
          <a:ln w="9525">
            <a:solidFill>
              <a:srgbClr val="D5DAE4"/>
            </a:solidFill>
            <a:prstDash val="solid"/>
          </a:ln>
        </p:spPr>
      </p:sp>
      <p:sp>
        <p:nvSpPr>
          <p:cNvPr id="11" name="Shape 8"/>
          <p:cNvSpPr/>
          <p:nvPr/>
        </p:nvSpPr>
        <p:spPr>
          <a:xfrm>
            <a:off x="548640" y="3840480"/>
            <a:ext cx="64008" cy="2194560"/>
          </a:xfrm>
          <a:prstGeom prst="rect">
            <a:avLst/>
          </a:prstGeom>
          <a:solidFill>
            <a:srgbClr val="14213D"/>
          </a:solidFill>
          <a:ln w="12700">
            <a:solidFill>
              <a:srgbClr val="14213D"/>
            </a:solidFill>
            <a:prstDash val="solid"/>
          </a:ln>
        </p:spPr>
      </p:sp>
      <p:sp>
        <p:nvSpPr>
          <p:cNvPr id="12" name="Text 9"/>
          <p:cNvSpPr/>
          <p:nvPr/>
        </p:nvSpPr>
        <p:spPr>
          <a:xfrm>
            <a:off x="731520" y="3913632"/>
            <a:ext cx="2377440" cy="204825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PyCaT'i düzeltmek</a:t>
            </a:r>
            <a:endParaRPr lang="en-US" sz="1100" dirty="0"/>
          </a:p>
          <a:p>
            <a:pPr indent="0" marL="0">
              <a:buNone/>
            </a:pPr>
            <a:r>
              <a:rPr lang="en-US" sz="1000" dirty="0">
                <a:solidFill>
                  <a:srgbClr val="1F2937"/>
                </a:solidFill>
                <a:latin typeface="Calibri" pitchFamily="34" charset="0"/>
                <a:ea typeface="Calibri" pitchFamily="34" charset="-122"/>
                <a:cs typeface="Calibri" pitchFamily="34" charset="-120"/>
              </a:rPr>
              <a:t>Geçiş riski düşük; ancak kapalı ve belgesiz kod, Excel makro bağımlılığı ve ekip sirkülasyonu nedeniyle sürdürülebilirlik ve denetlenebilirlik zayıf.</a:t>
            </a:r>
            <a:endParaRPr lang="en-US" sz="1100" dirty="0"/>
          </a:p>
        </p:txBody>
      </p:sp>
      <p:sp>
        <p:nvSpPr>
          <p:cNvPr id="13" name="Shape 10"/>
          <p:cNvSpPr/>
          <p:nvPr/>
        </p:nvSpPr>
        <p:spPr>
          <a:xfrm>
            <a:off x="3346704" y="3840480"/>
            <a:ext cx="2651760" cy="2194560"/>
          </a:xfrm>
          <a:prstGeom prst="rect">
            <a:avLst/>
          </a:prstGeom>
          <a:solidFill>
            <a:srgbClr val="F4F6FA"/>
          </a:solidFill>
          <a:ln w="9525">
            <a:solidFill>
              <a:srgbClr val="D5DAE4"/>
            </a:solidFill>
            <a:prstDash val="solid"/>
          </a:ln>
        </p:spPr>
      </p:sp>
      <p:sp>
        <p:nvSpPr>
          <p:cNvPr id="14" name="Shape 11"/>
          <p:cNvSpPr/>
          <p:nvPr/>
        </p:nvSpPr>
        <p:spPr>
          <a:xfrm>
            <a:off x="3346704" y="3840480"/>
            <a:ext cx="64008" cy="2194560"/>
          </a:xfrm>
          <a:prstGeom prst="rect">
            <a:avLst/>
          </a:prstGeom>
          <a:solidFill>
            <a:srgbClr val="0F766E"/>
          </a:solidFill>
          <a:ln w="12700">
            <a:solidFill>
              <a:srgbClr val="0F766E"/>
            </a:solidFill>
            <a:prstDash val="solid"/>
          </a:ln>
        </p:spPr>
      </p:sp>
      <p:sp>
        <p:nvSpPr>
          <p:cNvPr id="15" name="Text 12"/>
          <p:cNvSpPr/>
          <p:nvPr/>
        </p:nvSpPr>
        <p:spPr>
          <a:xfrm>
            <a:off x="3529584" y="3913632"/>
            <a:ext cx="2377440" cy="2048256"/>
          </a:xfrm>
          <a:prstGeom prst="rect">
            <a:avLst/>
          </a:prstGeom>
          <a:noFill/>
          <a:ln/>
        </p:spPr>
        <p:txBody>
          <a:bodyPr wrap="square" lIns="0" tIns="0" rIns="0" bIns="0" rtlCol="0" anchor="t"/>
          <a:lstStyle/>
          <a:p>
            <a:pPr indent="0" marL="0">
              <a:buNone/>
            </a:pPr>
            <a:r>
              <a:rPr lang="en-US" sz="1100" b="1" dirty="0">
                <a:solidFill>
                  <a:srgbClr val="0F766E"/>
                </a:solidFill>
                <a:latin typeface="Calibri" pitchFamily="34" charset="0"/>
                <a:ea typeface="Calibri" pitchFamily="34" charset="-122"/>
                <a:cs typeface="Calibri" pitchFamily="34" charset="-120"/>
              </a:rPr>
              <a:t>Ticari / Head Office aracı</a:t>
            </a:r>
            <a:endParaRPr lang="en-US" sz="1100" dirty="0"/>
          </a:p>
          <a:p>
            <a:pPr indent="0" marL="0">
              <a:buNone/>
            </a:pPr>
            <a:r>
              <a:rPr lang="en-US" sz="1000" dirty="0">
                <a:solidFill>
                  <a:srgbClr val="1F2937"/>
                </a:solidFill>
                <a:latin typeface="Calibri" pitchFamily="34" charset="0"/>
                <a:ea typeface="Calibri" pitchFamily="34" charset="-122"/>
                <a:cs typeface="Calibri" pitchFamily="34" charset="-120"/>
              </a:rPr>
              <a:t>Poliçe bazlı, denetlenebilir ve sektörde yaygın; maliyet, uygulama süresi ve satıcı bağımlılığı artar. Head Office'in GPM'si bu başlıkta doğal aday.</a:t>
            </a:r>
            <a:endParaRPr lang="en-US" sz="1100" dirty="0"/>
          </a:p>
        </p:txBody>
      </p:sp>
      <p:sp>
        <p:nvSpPr>
          <p:cNvPr id="16" name="Shape 13"/>
          <p:cNvSpPr/>
          <p:nvPr/>
        </p:nvSpPr>
        <p:spPr>
          <a:xfrm>
            <a:off x="6144768" y="3840480"/>
            <a:ext cx="2651760" cy="2194560"/>
          </a:xfrm>
          <a:prstGeom prst="rect">
            <a:avLst/>
          </a:prstGeom>
          <a:solidFill>
            <a:srgbClr val="F4F6FA"/>
          </a:solidFill>
          <a:ln w="9525">
            <a:solidFill>
              <a:srgbClr val="D5DAE4"/>
            </a:solidFill>
            <a:prstDash val="solid"/>
          </a:ln>
        </p:spPr>
      </p:sp>
      <p:sp>
        <p:nvSpPr>
          <p:cNvPr id="17" name="Shape 14"/>
          <p:cNvSpPr/>
          <p:nvPr/>
        </p:nvSpPr>
        <p:spPr>
          <a:xfrm>
            <a:off x="6144768" y="3840480"/>
            <a:ext cx="64008" cy="2194560"/>
          </a:xfrm>
          <a:prstGeom prst="rect">
            <a:avLst/>
          </a:prstGeom>
          <a:solidFill>
            <a:srgbClr val="14213D"/>
          </a:solidFill>
          <a:ln w="12700">
            <a:solidFill>
              <a:srgbClr val="14213D"/>
            </a:solidFill>
            <a:prstDash val="solid"/>
          </a:ln>
        </p:spPr>
      </p:sp>
      <p:sp>
        <p:nvSpPr>
          <p:cNvPr id="18" name="Text 15"/>
          <p:cNvSpPr/>
          <p:nvPr/>
        </p:nvSpPr>
        <p:spPr>
          <a:xfrm>
            <a:off x="6327648" y="3913632"/>
            <a:ext cx="2377440" cy="204825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Açık kaynak Python motoru</a:t>
            </a:r>
            <a:endParaRPr lang="en-US" sz="1100" dirty="0"/>
          </a:p>
          <a:p>
            <a:pPr indent="0" marL="0">
              <a:buNone/>
            </a:pPr>
            <a:r>
              <a:rPr lang="en-US" sz="1000" dirty="0">
                <a:solidFill>
                  <a:srgbClr val="1F2937"/>
                </a:solidFill>
                <a:latin typeface="Calibri" pitchFamily="34" charset="0"/>
                <a:ea typeface="Calibri" pitchFamily="34" charset="-122"/>
                <a:cs typeface="Calibri" pitchFamily="34" charset="-120"/>
              </a:rPr>
              <a:t>Esnek, satıcıdan bağımsız ve hızlı olabilir; yetkinlik, bakım ve denetim dokümantasyonu bizim sorumluluğumuzda.</a:t>
            </a:r>
            <a:endParaRPr lang="en-US" sz="1100" dirty="0"/>
          </a:p>
        </p:txBody>
      </p:sp>
      <p:sp>
        <p:nvSpPr>
          <p:cNvPr id="19" name="Shape 16"/>
          <p:cNvSpPr/>
          <p:nvPr/>
        </p:nvSpPr>
        <p:spPr>
          <a:xfrm>
            <a:off x="8942832" y="3840480"/>
            <a:ext cx="2651760" cy="2194560"/>
          </a:xfrm>
          <a:prstGeom prst="rect">
            <a:avLst/>
          </a:prstGeom>
          <a:solidFill>
            <a:srgbClr val="F4F6FA"/>
          </a:solidFill>
          <a:ln w="9525">
            <a:solidFill>
              <a:srgbClr val="D5DAE4"/>
            </a:solidFill>
            <a:prstDash val="solid"/>
          </a:ln>
        </p:spPr>
      </p:sp>
      <p:sp>
        <p:nvSpPr>
          <p:cNvPr id="20" name="Shape 17"/>
          <p:cNvSpPr/>
          <p:nvPr/>
        </p:nvSpPr>
        <p:spPr>
          <a:xfrm>
            <a:off x="8942832" y="3840480"/>
            <a:ext cx="64008" cy="2194560"/>
          </a:xfrm>
          <a:prstGeom prst="rect">
            <a:avLst/>
          </a:prstGeom>
          <a:solidFill>
            <a:srgbClr val="14213D"/>
          </a:solidFill>
          <a:ln w="12700">
            <a:solidFill>
              <a:srgbClr val="14213D"/>
            </a:solidFill>
            <a:prstDash val="solid"/>
          </a:ln>
        </p:spPr>
      </p:sp>
      <p:sp>
        <p:nvSpPr>
          <p:cNvPr id="21" name="Text 18"/>
          <p:cNvSpPr/>
          <p:nvPr/>
        </p:nvSpPr>
        <p:spPr>
          <a:xfrm>
            <a:off x="9125712" y="3913632"/>
            <a:ext cx="2377440" cy="2048256"/>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Hibrit: Excel + yeni motor</a:t>
            </a:r>
            <a:endParaRPr lang="en-US" sz="1100" dirty="0"/>
          </a:p>
          <a:p>
            <a:pPr indent="0" marL="0">
              <a:buNone/>
            </a:pPr>
            <a:r>
              <a:rPr lang="en-US" sz="1000" dirty="0">
                <a:solidFill>
                  <a:srgbClr val="1F2937"/>
                </a:solidFill>
                <a:latin typeface="Calibri" pitchFamily="34" charset="0"/>
                <a:ea typeface="Calibri" pitchFamily="34" charset="-122"/>
                <a:cs typeface="Calibri" pitchFamily="34" charset="-120"/>
              </a:rPr>
              <a:t>Excel arayüzü kalır, hesap motoru değişir; geçiş kademeli olur, ama iki katmanı birlikte yönetme yükü doğar.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KARAR</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Toplam sahip olma maliyeti (TCO): kalem ve düzey</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Tutarlar teklif ve iç tahminle doldurulacak.</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26</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0241280" cy="914400"/>
        </p:xfrm>
        <a:graphic>
          <a:graphicData uri="http://schemas.openxmlformats.org/drawingml/2006/table">
            <a:tbl>
              <a:tblPr/>
              <a:tblGrid>
                <a:gridCol w="2286000"/>
                <a:gridCol w="1188720"/>
                <a:gridCol w="1371600"/>
                <a:gridCol w="1371600"/>
                <a:gridCol w="1371600"/>
                <a:gridCol w="1371600"/>
                <a:gridCol w="12801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Kalem</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Tür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PyCaT'i düzeltmek</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Ticari / Head Office aracı</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Açık kaynak Python motoru</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Hibrit: Excel + yeni motor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Tutar</a:t>
                      </a:r>
                      <a:endParaRPr lang="en-US" sz="11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Lisans</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Yıllık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Yok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Yok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Motora bağlı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Uygulama ve entegrasyon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 sefer</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İşletme ve bakım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Yıllık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Eğitim</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 sefer ve yıllık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Düşük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Çift çalıştırma (pilot)</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Geçiş dönemi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Düşük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Doğrulama ve denetim dokümantasyonu</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 sefer ve yıllık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Düşük-orta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Anahtar kişi ve bilgi aktarımı</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Sürekli</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Düşük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Yüksek</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Orta</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[teklif / tahmin]</a:t>
                      </a:r>
                      <a:endParaRPr lang="en-US" sz="11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KARAR</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Risk kaydı R1-R10</a:t>
            </a:r>
            <a:endParaRPr lang="en-US" sz="2600" dirty="0"/>
          </a:p>
        </p:txBody>
      </p:sp>
      <p:sp>
        <p:nvSpPr>
          <p:cNvPr id="4" name="Text 2"/>
          <p:cNvSpPr/>
          <p:nvPr/>
        </p:nvSpPr>
        <p:spPr>
          <a:xfrm>
            <a:off x="548640" y="1280160"/>
            <a:ext cx="1106424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Son kullanıcı riskleri dahil.</a:t>
            </a:r>
            <a:endParaRPr lang="en-US" sz="1400" dirty="0"/>
          </a:p>
        </p:txBody>
      </p:sp>
      <p:sp>
        <p:nvSpPr>
          <p:cNvPr id="5" name="Shape 3"/>
          <p:cNvSpPr/>
          <p:nvPr/>
        </p:nvSpPr>
        <p:spPr>
          <a:xfrm>
            <a:off x="548640" y="6400800"/>
            <a:ext cx="11091672" cy="0"/>
          </a:xfrm>
          <a:prstGeom prst="line">
            <a:avLst/>
          </a:prstGeom>
          <a:noFill/>
          <a:ln w="9525">
            <a:solidFill>
              <a:srgbClr val="D5DAE4"/>
            </a:solidFill>
            <a:prstDash val="solid"/>
          </a:ln>
        </p:spPr>
      </p:sp>
      <p:sp>
        <p:nvSpPr>
          <p:cNvPr id="6" name="Text 4"/>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7" name="Text 5"/>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27</a:t>
            </a:r>
            <a:endParaRPr lang="en-US" sz="900" dirty="0"/>
          </a:p>
        </p:txBody>
      </p:sp>
      <p:sp>
        <p:nvSpPr>
          <p:cNvPr id="8" name="Text 6">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57200"/>
                <a:gridCol w="1554480"/>
                <a:gridCol w="1005840"/>
                <a:gridCol w="731520"/>
                <a:gridCol w="640080"/>
                <a:gridCol w="2377440"/>
                <a:gridCol w="3291840"/>
                <a:gridCol w="103327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Kategori</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Olasılık</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Etki</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Açıklama</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Azaltma</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Sahip</a:t>
                      </a:r>
                      <a:endParaRPr lang="en-US" sz="100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R1</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Anahtar kişi bağımlılığı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Operasyonel</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PyCaT kapalı ve belgesiz; bilen kişi ayrılırsa mantık kaybolur.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PyCaT'i bilen kişiyle mantık dokümanı, kod haritası, her kritik adım için ikinci sahip.</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şefi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R2</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Ekip sirkülasyonu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Operasyonel</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Denetim yorumu: sirkülasyon fazla.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Rotasyon ve devir planı, çapraz eğitim, süren kadro alımı.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şefi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R3</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Kapanış gecikmesi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Operasyonel</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IFRS 17 ve IFRS 4 paralel raporlanıyor; ek iş kapanışı geciktirebilir.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Çalışmayı kapanış günleri dışında yürüt; canlı süreci pilot bitene kadar değiştirme.</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şefi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R4</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Denetçi itirazı veya detay sorusu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Denetim</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Gelecek sorular PyCaT ile yanıtlanamayabilir.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Soru matrisi, değişiklik kaydı, fark analizi, poliçe düzeyinde iz.</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Elçin</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R5</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Manuel müdahale ve makro hatası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Son kullanıcı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Excel makrosu ve manuel tarih düzeltmeleri hataya açık.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Müdahale kaydı, kural tabanlı üretim, ikinci göz; makro yerine kontrollü arayüz.</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IT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R6</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Veri uyumsuzluğu ve mutabakat kırılması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Operasyonel</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Run çıktısı içeri gitmeyebilir.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Kontrol toplamları ve otomatik mutabakat raporu.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IT, Muhasebe</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R7</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Kullanıcı benimsemesi ve yetkinlik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Son kullanıcı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Yeni araç yeni beceri ister; eğitimler henüz alınmadı.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Head Office online eğitimi, Linktera SAS eğitimi, danışman eğitimi, pilot kullanıcı grubu.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şefi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R8</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Satıcı bağımlılığı ve maliyet sapması</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Maliyet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Ticari araçta lisans ve uygulama maliyeti, çıkış zorluğu.</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Açık veri formatı, çıkış koşulları, sabit kapsamlı teklif.</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satın alma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R9</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Bilgi güvenliği: kodun LLM'e verilmesi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Bilgi güvenliği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PyCaT şirkete ait kapalı koddur.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Önce onay; mümkünse yalnızca kod içermeyen harita ve istatistikler.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Bilgi güvenliği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R10</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Geçişte çift çalıştırma yükü</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Maliyet</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Yüksek</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Orta</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Pilot sırasında iki sistem birlikte yürür.</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Tek portföy, sınırlı sayıda kapanış, net çıkış kriteri.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Aktüerya şefi</a:t>
                      </a:r>
                      <a:endParaRPr lang="en-US" sz="100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EK</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Sözlük (1/2)</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28</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868680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Terim</a:t>
                      </a:r>
                      <a:endParaRPr lang="en-US" sz="95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Açıklama</a:t>
                      </a:r>
                      <a:endParaRPr lang="en-US" sz="95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Average duration (ortalama süre)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Bir grubun poliçelerinin tek bir ortalama kalan süreyle temsil edilmesi. PyCaT'in mevcut çalışma varsayımı.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Beklenen teminat (expected coverage)</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Teminat süresi boyunca beklenen hizmet ve risk dağılımı; gelir ve rezerv çözümünün dayanağı.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Coverage unit (hizmet birimi)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CSM'nin gelire aktarımında kullanılan, teminat miktarı ve beklenen süresinden oluşan birim.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CSM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Sözleşmesel hizmet marjı. İlk kayıtta kâr yazılmasını engeller, hizmet sunuldukça gelire aktarılır.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Data availability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Kapanış verisinin sürece başlamaya hazır olup olmadığının kontrolü.</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Earned premium (kazanılmış prim)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Teminat süresinin geçen kısmına karşılık gelen prim.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Experience variance</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Gerçekleşen ile beklenen arasındaki fark.</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FCF (yerine getirme nakit akışları)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Gelecekteki nakit akışlarının bugünkü değeri ile risk düzeltmesinin toplamı.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GMM / BBA</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Genel ölçüm modeli (yapı taşları yaklaşımı).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GPM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Head Office'in poliçe bazlı nakit akışı aracı.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IBNR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Gerçekleşmiş ancak henüz bildirilmemiş hasarlar için karşılık.</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IFRS 4</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IFRS 17'nin yerini aldığı önceki sigorta sözleşmeleri standardı; bugün paralel raporlamada kullanılıyor.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IFRS 17</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Sigorta sözleşmelerinin ölçümünü, sunumunu ve açıklanmasını düzenleyen standart.</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Incurred date</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Hasarın meydana geldiği tarih.</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Initial cashflow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Portföyün ilk yüklendiği tarihteki gelecek nakit akışı projeksiyonu. Tanım doğrulanacak.</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Kâr grubu</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Her portföyün en az üç gruba bölünmesi: ilk kayıtta zarar getirenler, sonradan zarara dönme olasılığı kayda değer olanlar ve kalanlar.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Kohort (yıllık)</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Aynı gruba, bir yıldan fazla aralıkla düzenlenen sözleşmeler birleştirilemez.</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LIC</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Gerçekleşmiş hasar yükümlülüğü: geçmiş hizmete ilişkin.</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EK</a:t>
            </a:r>
            <a:endParaRPr lang="en-US" sz="1100" dirty="0"/>
          </a:p>
        </p:txBody>
      </p:sp>
      <p:sp>
        <p:nvSpPr>
          <p:cNvPr id="3" name="Text 1"/>
          <p:cNvSpPr/>
          <p:nvPr/>
        </p:nvSpPr>
        <p:spPr>
          <a:xfrm>
            <a:off x="548640" y="548640"/>
            <a:ext cx="11064240" cy="731520"/>
          </a:xfrm>
          <a:prstGeom prst="rect">
            <a:avLst/>
          </a:prstGeom>
          <a:noFill/>
          <a:ln/>
        </p:spPr>
        <p:txBody>
          <a:bodyPr wrap="square" lIns="0" tIns="0" rIns="0" bIns="0" rtlCol="0" anchor="t"/>
          <a:lstStyle/>
          <a:p>
            <a:pPr indent="0" marL="0">
              <a:buNone/>
            </a:pPr>
            <a:r>
              <a:rPr lang="en-US" sz="2600" b="1" dirty="0">
                <a:solidFill>
                  <a:srgbClr val="14213D"/>
                </a:solidFill>
                <a:latin typeface="Georgia" pitchFamily="34" charset="0"/>
                <a:ea typeface="Georgia" pitchFamily="34" charset="-122"/>
                <a:cs typeface="Georgia" pitchFamily="34" charset="-120"/>
              </a:rPr>
              <a:t>Sözlük (2/2)</a:t>
            </a:r>
            <a:endParaRPr lang="en-US" sz="2600" dirty="0"/>
          </a:p>
        </p:txBody>
      </p:sp>
      <p:sp>
        <p:nvSpPr>
          <p:cNvPr id="4" name="Shape 2"/>
          <p:cNvSpPr/>
          <p:nvPr/>
        </p:nvSpPr>
        <p:spPr>
          <a:xfrm>
            <a:off x="548640" y="6400800"/>
            <a:ext cx="11091672" cy="0"/>
          </a:xfrm>
          <a:prstGeom prst="line">
            <a:avLst/>
          </a:prstGeom>
          <a:noFill/>
          <a:ln w="9525">
            <a:solidFill>
              <a:srgbClr val="D5DAE4"/>
            </a:solidFill>
            <a:prstDash val="solid"/>
          </a:ln>
        </p:spPr>
      </p:sp>
      <p:sp>
        <p:nvSpPr>
          <p:cNvPr id="5" name="Text 3"/>
          <p:cNvSpPr/>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PyCaT Değerlendirmesi · Aktüerya Kapanış · Taslak</a:t>
            </a:r>
            <a:endParaRPr lang="en-US" sz="900" dirty="0"/>
          </a:p>
        </p:txBody>
      </p:sp>
      <p:sp>
        <p:nvSpPr>
          <p:cNvPr id="6" name="Text 4"/>
          <p:cNvSpPr/>
          <p:nvPr/>
        </p:nvSpPr>
        <p:spPr>
          <a:xfrm>
            <a:off x="10698480" y="6446520"/>
            <a:ext cx="941832" cy="274320"/>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29</a:t>
            </a:r>
            <a:endParaRPr lang="en-US" sz="900" dirty="0"/>
          </a:p>
        </p:txBody>
      </p:sp>
      <p:sp>
        <p:nvSpPr>
          <p:cNvPr id="7" name="Text 5">
            <a:hlinkClick r:id="rId1" tooltip="Gündem" action="ppaction://hlinksldjump"/>
          </p:cNvPr>
          <p:cNvSpPr/>
          <p:nvPr/>
        </p:nvSpPr>
        <p:spPr>
          <a:xfrm>
            <a:off x="9052560" y="6446520"/>
            <a:ext cx="1463040" cy="274320"/>
          </a:xfrm>
          <a:prstGeom prst="rect">
            <a:avLst/>
          </a:prstGeom>
          <a:noFill/>
          <a:ln/>
        </p:spPr>
        <p:txBody>
          <a:bodyPr wrap="square" lIns="0" tIns="0" rIns="0" bIns="0" rtlCol="0" anchor="ctr"/>
          <a:lstStyle/>
          <a:p>
            <a:pPr algn="r" indent="0" marL="0">
              <a:buNone/>
            </a:pPr>
            <a:r>
              <a:rPr lang="en-US" sz="900" u="sng" dirty="0">
                <a:solidFill>
                  <a:srgbClr val="0F766E"/>
                </a:solidFill>
                <a:latin typeface="Calibri" pitchFamily="34" charset="0"/>
                <a:ea typeface="Calibri" pitchFamily="34" charset="-122"/>
                <a:cs typeface="Calibri" pitchFamily="34" charset="-120"/>
                <a:hlinkClick r:id="rId1" action="ppaction://hlinksldjump" tooltip="Gündem">
                  <a:extLst>
                    <a:ext uri="{A12FA001-AC4F-418D-AE19-62706E023703}">
                      <ahyp:hlinkClr xmlns:ahyp="http://schemas.microsoft.com/office/drawing/2018/hyperlinkcolor" val="tx"/>
                    </a:ext>
                  </a:extLst>
                </a:hlinkClick>
              </a:rPr>
              <a:t>İçindekiler</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868680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Terim</a:t>
                      </a:r>
                      <a:endParaRPr lang="en-US" sz="95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Açıklama</a:t>
                      </a:r>
                      <a:endParaRPr lang="en-US" sz="950" dirty="0">
                        <a:latin typeface="Calibri" charset="0"/>
                        <a:ea typeface="Calibri" charset="0"/>
                        <a:cs typeface="Calibri" charset="0"/>
                      </a:endParaRPr>
                    </a:p>
                  </a:txBody>
                  <a:tcPr marL="73152" marR="73152" marT="45720" marB="45720" anchor="ctr">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14213D"/>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LRC</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Kalan teminat yükümlülüğü: gelecek hizmete ilişkin.</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Model-point</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Benzer poliçelerin temsilci bir kayıtla toplanması.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Mutabakat</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İki kaynaktaki rakamların eşleştirilmesi, örneğin run çıktısı ile muhasebe.</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Onerous (zarar getiren)</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İlk kayıtta beklenen çıkışların girişleri aştığı sözleşme grubu.</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PAA</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Prim tahsisi yaklaşımı: kısa süreli sözleşmeler için basitleştirilmiş ölçüm.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Portföy</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Benzer risklere sahip ve birlikte yönetilen sözleşmeler.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Prophet</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FIS'in aktüeryal modelleme aracı.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PyCaT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Kuruma ait, kapalı, Python tabanlı nakit akışı aracı; Excel makrosuyla tetiklenir.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RA (risk düzeltmesi)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Finansal olmayan risk için karşılık.</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RAFM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Willis Towers Watson'ın aktüeryal modelleme aracı.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Risk driver tablosu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Risk dağılımının dayanağı olan sürücülerin tablosu; cari dönem actual alınıyor.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Roll-forward</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Açılış bakiyesinden kapanışa hareket tablosu.</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Sözleşme sınırı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Şirketin prim almaya zorlanabildiği veya hizmet sunmakla yükümlü olduğu dönem.</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TCO</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Toplam sahip olma maliyeti: lisans, uygulama, işletme, eğitim ve geçiş maliyetlerinin toplamı.</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Unit of account (UoA)</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Ölçümün yapıldığı sözleşme grubu: portföy, kâr grubu ve yıllık kohortun kesişimi.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VFA</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Değişken ücret yaklaşımı: doğrudan katılımlı sözleşmeler için.</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7F8FB"/>
                    </a:solidFill>
                  </a:tcPr>
                </a:tc>
              </a:tr>
              <a:tr h="0">
                <a:tc>
                  <a:txBody>
                    <a:bodyPr/>
                    <a:lstStyle/>
                    <a:p>
                      <a:pPr indent="0" marL="0">
                        <a:buNone/>
                      </a:pPr>
                      <a:r>
                        <a:rPr lang="en-US" sz="950" b="1" dirty="0">
                          <a:solidFill>
                            <a:srgbClr val="1F2937"/>
                          </a:solidFill>
                          <a:latin typeface="Calibri" pitchFamily="34" charset="0"/>
                          <a:ea typeface="Calibri" pitchFamily="34" charset="-122"/>
                          <a:cs typeface="Calibri" pitchFamily="34" charset="-120"/>
                        </a:rPr>
                        <a:t>Y1, Y2, Y3 (kurum içi)</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PyCaT'in incurred tarihleri yıl bazında adlandırdığı dönemler.</a:t>
                      </a:r>
                      <a:endParaRPr lang="en-US" sz="950" dirty="0">
                        <a:latin typeface="Calibri" charset="0"/>
                        <a:ea typeface="Calibri" charset="0"/>
                        <a:cs typeface="Calibri" charset="0"/>
                      </a:endParaRPr>
                    </a:p>
                  </a:txBody>
                  <a:tcPr marL="73152" marR="73152" marT="45720" marB="45720" anchor="t">
                    <a:lnL w="6350" cap="flat" cmpd="sng" algn="ctr">
                      <a:solidFill>
                        <a:srgbClr val="D5DAE4"/>
                      </a:solidFill>
                      <a:prstDash val="solid"/>
                      <a:round/>
                      <a:headEnd type="none" w="med" len="med"/>
                      <a:tailEnd type="none" w="med" len="med"/>
                    </a:lnL>
                    <a:lnR w="6350" cap="flat" cmpd="sng" algn="ctr">
                      <a:solidFill>
                        <a:srgbClr val="D5DAE4"/>
                      </a:solidFill>
                      <a:prstDash val="solid"/>
                      <a:round/>
                      <a:headEnd type="none" w="med" len="med"/>
                      <a:tailEnd type="none" w="med" len="med"/>
                    </a:lnR>
                    <a:lnT w="6350" cap="flat" cmpd="sng" algn="ctr">
                      <a:solidFill>
                        <a:srgbClr val="D5DAE4"/>
                      </a:solidFill>
                      <a:prstDash val="solid"/>
                      <a:round/>
                      <a:headEnd type="none" w="med" len="med"/>
                      <a:tailEnd type="none" w="med" len="med"/>
                    </a:lnT>
                    <a:lnB w="6350" cap="flat" cmpd="sng" algn="ctr">
                      <a:solidFill>
                        <a:srgbClr val="D5DAE4"/>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PyCaT Değerlendirmesi</dc:title>
  <dc:subject>PptxGenJS Presentation</dc:subject>
  <dc:creator>PptxGenJS</dc:creator>
  <cp:lastModifiedBy>PptxGenJS</cp:lastModifiedBy>
  <cp:revision>1</cp:revision>
  <dcterms:created xsi:type="dcterms:W3CDTF">2026-10-13T08:11:54Z</dcterms:created>
  <dcterms:modified xsi:type="dcterms:W3CDTF">2026-10-13T08:11:54Z</dcterms:modified>
</cp:coreProperties>
</file>